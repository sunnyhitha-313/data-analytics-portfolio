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chart7.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41" r:id="rId1"/>
  </p:sldMasterIdLst>
  <p:notesMasterIdLst>
    <p:notesMasterId r:id="rId19"/>
  </p:notesMasterIdLst>
  <p:sldIdLst>
    <p:sldId id="256" r:id="rId2"/>
    <p:sldId id="281" r:id="rId3"/>
    <p:sldId id="259" r:id="rId4"/>
    <p:sldId id="261" r:id="rId5"/>
    <p:sldId id="280" r:id="rId6"/>
    <p:sldId id="262" r:id="rId7"/>
    <p:sldId id="263" r:id="rId8"/>
    <p:sldId id="264" r:id="rId9"/>
    <p:sldId id="265" r:id="rId10"/>
    <p:sldId id="267" r:id="rId11"/>
    <p:sldId id="268" r:id="rId12"/>
    <p:sldId id="269" r:id="rId13"/>
    <p:sldId id="270" r:id="rId14"/>
    <p:sldId id="271" r:id="rId15"/>
    <p:sldId id="272"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57D3"/>
    <a:srgbClr val="6D1D6B"/>
    <a:srgbClr val="50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17035B-69B6-4B3F-A3C2-2DB25A4F5E76}" v="251" dt="2026-02-22T16:25:12.5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accent1">
                    <a:lumMod val="75000"/>
                  </a:schemeClr>
                </a:solidFill>
              </a:rPr>
              <a:t>User Activity Distribution</a:t>
            </a:r>
            <a:endParaRPr lang="en-IN" dirty="0">
              <a:solidFill>
                <a:schemeClr val="accent1">
                  <a:lumMod val="75000"/>
                </a:scheme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8D42-4672-A801-42975569950E}"/>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8D42-4672-A801-42975569950E}"/>
              </c:ext>
            </c:extLst>
          </c:dPt>
          <c:dLbls>
            <c:dLbl>
              <c:idx val="0"/>
              <c:layout>
                <c:manualLayout>
                  <c:x val="-0.10108191163604549"/>
                  <c:y val="-0.1798698600174978"/>
                </c:manualLayout>
              </c:layout>
              <c:tx>
                <c:rich>
                  <a:bodyPr/>
                  <a:lstStyle/>
                  <a:p>
                    <a:fld id="{2EADBB7F-5DEC-4557-9595-DD42FB1DB65A}" type="PERCENTAGE">
                      <a:rPr lang="en-US" sz="1200" b="1" smtClean="0">
                        <a:solidFill>
                          <a:schemeClr val="bg1"/>
                        </a:solidFill>
                      </a:rPr>
                      <a:pPr/>
                      <a:t>[PERCENTAGE]</a:t>
                    </a:fld>
                    <a:endParaRPr lang="en-US"/>
                  </a:p>
                </c:rich>
              </c:tx>
              <c:dLblPos val="bestFit"/>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1-8D42-4672-A801-42975569950E}"/>
                </c:ext>
                <c:ext xmlns:c15="http://schemas.microsoft.com/office/drawing/2012/chart" uri="{CE6537A1-D6FC-4f65-9D91-7224C49458BB}">
                  <c15:dlblFieldTable/>
                  <c15:showDataLabelsRange val="0"/>
                </c:ext>
              </c:extLst>
            </c:dLbl>
            <c:dLbl>
              <c:idx val="1"/>
              <c:layout>
                <c:manualLayout>
                  <c:x val="9.0663276465441867E-2"/>
                  <c:y val="9.8748906386701668E-2"/>
                </c:manualLayout>
              </c:layout>
              <c:tx>
                <c:rich>
                  <a:bodyPr/>
                  <a:lstStyle/>
                  <a:p>
                    <a:fld id="{82DDEFC1-9DF9-4E88-8AB1-9DB36BADF9BB}" type="PERCENTAGE">
                      <a:rPr lang="en-US" sz="1200" b="1" smtClean="0">
                        <a:solidFill>
                          <a:schemeClr val="bg1"/>
                        </a:solidFill>
                      </a:rPr>
                      <a:pPr/>
                      <a:t>[PERCENTAGE]</a:t>
                    </a:fld>
                    <a:endParaRPr lang="en-US"/>
                  </a:p>
                </c:rich>
              </c:tx>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8D42-4672-A801-42975569950E}"/>
                </c:ext>
                <c:ext xmlns:c15="http://schemas.microsoft.com/office/drawing/2012/chart" uri="{CE6537A1-D6FC-4f65-9D91-7224C49458BB}">
                  <c15:dlblFieldTable/>
                  <c15:showDataLabelsRange val="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extLst>
          </c:dLbls>
          <c:cat>
            <c:strRef>
              <c:f>Sheet1!$A$2:$A$3</c:f>
              <c:strCache>
                <c:ptCount val="2"/>
                <c:pt idx="0">
                  <c:v>Active</c:v>
                </c:pt>
                <c:pt idx="1">
                  <c:v>Inactive</c:v>
                </c:pt>
              </c:strCache>
            </c:strRef>
          </c:cat>
          <c:val>
            <c:numRef>
              <c:f>Sheet1!$B$2:$B$3</c:f>
              <c:numCache>
                <c:formatCode>General</c:formatCode>
                <c:ptCount val="2"/>
                <c:pt idx="0">
                  <c:v>74</c:v>
                </c:pt>
                <c:pt idx="1">
                  <c:v>26</c:v>
                </c:pt>
              </c:numCache>
            </c:numRef>
          </c:val>
          <c:extLst xmlns:c16r2="http://schemas.microsoft.com/office/drawing/2015/06/chart">
            <c:ext xmlns:c16="http://schemas.microsoft.com/office/drawing/2014/chart" uri="{C3380CC4-5D6E-409C-BE32-E72D297353CC}">
              <c16:uniqueId val="{00000004-8D42-4672-A801-42975569950E}"/>
            </c:ext>
          </c:extLst>
        </c:ser>
        <c:dLbls>
          <c:dLblPos val="bestFit"/>
          <c:showLegendKey val="0"/>
          <c:showVal val="1"/>
          <c:showCatName val="0"/>
          <c:showSerName val="0"/>
          <c:showPercent val="0"/>
          <c:showBubbleSize val="0"/>
          <c:showLeaderLines val="0"/>
        </c:dLbls>
        <c:firstSliceAng val="0"/>
      </c:pieChart>
      <c:spPr>
        <a:noFill/>
        <a:ln>
          <a:noFill/>
        </a:ln>
        <a:effectLst/>
      </c:spPr>
    </c:plotArea>
    <c:legend>
      <c:legendPos val="b"/>
      <c:layout>
        <c:manualLayout>
          <c:xMode val="edge"/>
          <c:yMode val="edge"/>
          <c:x val="0.33167607174103236"/>
          <c:y val="0.81197834645669287"/>
          <c:w val="0.33387007874015751"/>
          <c:h val="0.1833920239136774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bg2">
                    <a:lumMod val="50000"/>
                  </a:schemeClr>
                </a:solidFill>
                <a:latin typeface="+mn-lt"/>
                <a:ea typeface="+mn-ea"/>
                <a:cs typeface="+mn-cs"/>
              </a:defRPr>
            </a:pPr>
            <a:r>
              <a:rPr lang="en-IN" sz="1400" b="0" i="0" u="none" strike="noStrike" baseline="0" dirty="0">
                <a:solidFill>
                  <a:schemeClr val="bg2">
                    <a:lumMod val="50000"/>
                  </a:schemeClr>
                </a:solidFill>
              </a:rPr>
              <a:t>Top 10 Users by Total Engagement</a:t>
            </a:r>
            <a:endParaRPr lang="en-US" dirty="0">
              <a:solidFill>
                <a:schemeClr val="bg2">
                  <a:lumMod val="50000"/>
                </a:scheme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2">
                  <a:lumMod val="50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Sheet1!$G$1</c:f>
              <c:strCache>
                <c:ptCount val="1"/>
                <c:pt idx="0">
                  <c:v>Total Engagement</c:v>
                </c:pt>
              </c:strCache>
            </c:strRef>
          </c:tx>
          <c:spPr>
            <a:solidFill>
              <a:schemeClr val="accent1"/>
            </a:solidFill>
            <a:ln>
              <a:noFill/>
            </a:ln>
            <a:effectLst/>
          </c:spPr>
          <c:invertIfNegative val="0"/>
          <c:dPt>
            <c:idx val="0"/>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1-0620-4BD7-AFFC-E01CF7E45832}"/>
              </c:ext>
            </c:extLst>
          </c:dPt>
          <c:dPt>
            <c:idx val="2"/>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0620-4BD7-AFFC-E01CF7E45832}"/>
              </c:ext>
            </c:extLst>
          </c:dPt>
          <c:dPt>
            <c:idx val="4"/>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5-0620-4BD7-AFFC-E01CF7E45832}"/>
              </c:ext>
            </c:extLst>
          </c:dPt>
          <c:dPt>
            <c:idx val="6"/>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7-0620-4BD7-AFFC-E01CF7E45832}"/>
              </c:ext>
            </c:extLst>
          </c:dPt>
          <c:dPt>
            <c:idx val="8"/>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9-0620-4BD7-AFFC-E01CF7E4583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Sheet1!$F$2:$F$11</c:f>
              <c:strCache>
                <c:ptCount val="10"/>
                <c:pt idx="0">
                  <c:v>Eveline95</c:v>
                </c:pt>
                <c:pt idx="1">
                  <c:v>Cesar93</c:v>
                </c:pt>
                <c:pt idx="2">
                  <c:v>Clint27</c:v>
                </c:pt>
                <c:pt idx="3">
                  <c:v>Delfina_VonRueden68</c:v>
                </c:pt>
                <c:pt idx="4">
                  <c:v>Aurelie71</c:v>
                </c:pt>
                <c:pt idx="5">
                  <c:v>Jaime53</c:v>
                </c:pt>
                <c:pt idx="6">
                  <c:v>Donald.Fritsch</c:v>
                </c:pt>
                <c:pt idx="7">
                  <c:v>Janet.Armstrong</c:v>
                </c:pt>
                <c:pt idx="8">
                  <c:v>Alexandro35</c:v>
                </c:pt>
                <c:pt idx="9">
                  <c:v>Zack_Kemmer93</c:v>
                </c:pt>
              </c:strCache>
            </c:strRef>
          </c:cat>
          <c:val>
            <c:numRef>
              <c:f>Sheet1!$G$2:$G$11</c:f>
              <c:numCache>
                <c:formatCode>General</c:formatCode>
                <c:ptCount val="10"/>
                <c:pt idx="0">
                  <c:v>405</c:v>
                </c:pt>
                <c:pt idx="1">
                  <c:v>385</c:v>
                </c:pt>
                <c:pt idx="2">
                  <c:v>375</c:v>
                </c:pt>
                <c:pt idx="3">
                  <c:v>347</c:v>
                </c:pt>
                <c:pt idx="4">
                  <c:v>318</c:v>
                </c:pt>
                <c:pt idx="5">
                  <c:v>302</c:v>
                </c:pt>
                <c:pt idx="6">
                  <c:v>247</c:v>
                </c:pt>
                <c:pt idx="7">
                  <c:v>222</c:v>
                </c:pt>
                <c:pt idx="8">
                  <c:v>220</c:v>
                </c:pt>
                <c:pt idx="9">
                  <c:v>219</c:v>
                </c:pt>
              </c:numCache>
            </c:numRef>
          </c:val>
          <c:extLst xmlns:c16r2="http://schemas.microsoft.com/office/drawing/2015/06/chart">
            <c:ext xmlns:c16="http://schemas.microsoft.com/office/drawing/2014/chart" uri="{C3380CC4-5D6E-409C-BE32-E72D297353CC}">
              <c16:uniqueId val="{0000000A-0620-4BD7-AFFC-E01CF7E45832}"/>
            </c:ext>
          </c:extLst>
        </c:ser>
        <c:dLbls>
          <c:dLblPos val="outEnd"/>
          <c:showLegendKey val="0"/>
          <c:showVal val="1"/>
          <c:showCatName val="0"/>
          <c:showSerName val="0"/>
          <c:showPercent val="0"/>
          <c:showBubbleSize val="0"/>
        </c:dLbls>
        <c:gapWidth val="182"/>
        <c:axId val="1653343632"/>
        <c:axId val="1653338736"/>
      </c:barChart>
      <c:catAx>
        <c:axId val="165334363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653338736"/>
        <c:crosses val="autoZero"/>
        <c:auto val="1"/>
        <c:lblAlgn val="ctr"/>
        <c:lblOffset val="100"/>
        <c:noMultiLvlLbl val="0"/>
      </c:catAx>
      <c:valAx>
        <c:axId val="165333873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653343632"/>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Top 10 Hashtags by Total Engagement</a:t>
            </a:r>
            <a:endParaRPr lang="en-IN"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6481408573928257E-2"/>
          <c:y val="0.1986425994380065"/>
          <c:w val="0.87296303587051616"/>
          <c:h val="0.6280658046293468"/>
        </c:manualLayout>
      </c:layout>
      <c:barChart>
        <c:barDir val="col"/>
        <c:grouping val="clustered"/>
        <c:varyColors val="0"/>
        <c:ser>
          <c:idx val="0"/>
          <c:order val="0"/>
          <c:spPr>
            <a:solidFill>
              <a:schemeClr val="accent1"/>
            </a:solidFill>
            <a:ln>
              <a:noFill/>
            </a:ln>
            <a:effectLst/>
          </c:spPr>
          <c:invertIfNegative val="0"/>
          <c:dPt>
            <c:idx val="1"/>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1-56A8-46B0-AE3C-FFFDD3DC6518}"/>
              </c:ext>
            </c:extLst>
          </c:dPt>
          <c:dPt>
            <c:idx val="3"/>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3-56A8-46B0-AE3C-FFFDD3DC6518}"/>
              </c:ext>
            </c:extLst>
          </c:dPt>
          <c:dPt>
            <c:idx val="5"/>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5-56A8-46B0-AE3C-FFFDD3DC6518}"/>
              </c:ext>
            </c:extLst>
          </c:dPt>
          <c:dPt>
            <c:idx val="7"/>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7-56A8-46B0-AE3C-FFFDD3DC6518}"/>
              </c:ext>
            </c:extLst>
          </c:dPt>
          <c:dPt>
            <c:idx val="9"/>
            <c:invertIfNegative val="0"/>
            <c:bubble3D val="0"/>
            <c:spPr>
              <a:solidFill>
                <a:schemeClr val="accent2"/>
              </a:solidFill>
              <a:ln>
                <a:noFill/>
              </a:ln>
              <a:effectLst/>
            </c:spPr>
            <c:extLst xmlns:c16r2="http://schemas.microsoft.com/office/drawing/2015/06/chart">
              <c:ext xmlns:c16="http://schemas.microsoft.com/office/drawing/2014/chart" uri="{C3380CC4-5D6E-409C-BE32-E72D297353CC}">
                <c16:uniqueId val="{00000009-56A8-46B0-AE3C-FFFDD3DC651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Sheet1!$J$1:$J$10</c:f>
              <c:strCache>
                <c:ptCount val="10"/>
                <c:pt idx="0">
                  <c:v>smile</c:v>
                </c:pt>
                <c:pt idx="1">
                  <c:v>beach</c:v>
                </c:pt>
                <c:pt idx="2">
                  <c:v>party</c:v>
                </c:pt>
                <c:pt idx="3">
                  <c:v>fun</c:v>
                </c:pt>
                <c:pt idx="4">
                  <c:v>food</c:v>
                </c:pt>
                <c:pt idx="5">
                  <c:v>lol</c:v>
                </c:pt>
                <c:pt idx="6">
                  <c:v>concert</c:v>
                </c:pt>
                <c:pt idx="7">
                  <c:v>hair</c:v>
                </c:pt>
                <c:pt idx="8">
                  <c:v>happy</c:v>
                </c:pt>
                <c:pt idx="9">
                  <c:v>beauty</c:v>
                </c:pt>
              </c:strCache>
            </c:strRef>
          </c:cat>
          <c:val>
            <c:numRef>
              <c:f>Sheet1!$K$1:$K$10</c:f>
              <c:numCache>
                <c:formatCode>General</c:formatCode>
                <c:ptCount val="10"/>
                <c:pt idx="0">
                  <c:v>1802</c:v>
                </c:pt>
                <c:pt idx="1">
                  <c:v>1293</c:v>
                </c:pt>
                <c:pt idx="2">
                  <c:v>1228</c:v>
                </c:pt>
                <c:pt idx="3">
                  <c:v>1166</c:v>
                </c:pt>
                <c:pt idx="4">
                  <c:v>804</c:v>
                </c:pt>
                <c:pt idx="5">
                  <c:v>768</c:v>
                </c:pt>
                <c:pt idx="6">
                  <c:v>753</c:v>
                </c:pt>
                <c:pt idx="7">
                  <c:v>729</c:v>
                </c:pt>
                <c:pt idx="8">
                  <c:v>702</c:v>
                </c:pt>
                <c:pt idx="9">
                  <c:v>681</c:v>
                </c:pt>
              </c:numCache>
            </c:numRef>
          </c:val>
          <c:extLst xmlns:c16r2="http://schemas.microsoft.com/office/drawing/2015/06/chart">
            <c:ext xmlns:c16="http://schemas.microsoft.com/office/drawing/2014/chart" uri="{C3380CC4-5D6E-409C-BE32-E72D297353CC}">
              <c16:uniqueId val="{0000000A-56A8-46B0-AE3C-FFFDD3DC6518}"/>
            </c:ext>
          </c:extLst>
        </c:ser>
        <c:dLbls>
          <c:dLblPos val="outEnd"/>
          <c:showLegendKey val="0"/>
          <c:showVal val="1"/>
          <c:showCatName val="0"/>
          <c:showSerName val="0"/>
          <c:showPercent val="0"/>
          <c:showBubbleSize val="0"/>
        </c:dLbls>
        <c:gapWidth val="219"/>
        <c:overlap val="-27"/>
        <c:axId val="1653347984"/>
        <c:axId val="1653341456"/>
      </c:barChart>
      <c:catAx>
        <c:axId val="1653347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653341456"/>
        <c:crosses val="autoZero"/>
        <c:auto val="1"/>
        <c:lblAlgn val="ctr"/>
        <c:lblOffset val="100"/>
        <c:noMultiLvlLbl val="0"/>
      </c:catAx>
      <c:valAx>
        <c:axId val="165334145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653347984"/>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a:t>Average Engagement by Number of Posts</a:t>
            </a:r>
            <a:endParaRPr lang="en-IN"/>
          </a:p>
        </c:rich>
      </c:tx>
      <c:layout>
        <c:manualLayout>
          <c:xMode val="edge"/>
          <c:yMode val="edge"/>
          <c:x val="0.13599258375854878"/>
          <c:y val="7.7610714434126222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693826233778197"/>
          <c:y val="0.10541490565714887"/>
          <c:w val="0.84568200904883373"/>
          <c:h val="0.68386558802032793"/>
        </c:manualLayout>
      </c:layout>
      <c:lineChart>
        <c:grouping val="standard"/>
        <c:varyColors val="0"/>
        <c:ser>
          <c:idx val="0"/>
          <c:order val="0"/>
          <c:tx>
            <c:strRef>
              <c:f>Sheet1!$Q$1</c:f>
              <c:strCache>
                <c:ptCount val="1"/>
                <c:pt idx="0">
                  <c:v>total_posts</c:v>
                </c:pt>
              </c:strCache>
            </c:strRef>
          </c:tx>
          <c:spPr>
            <a:ln w="28575" cap="rnd">
              <a:solidFill>
                <a:schemeClr val="accent1"/>
              </a:solidFill>
              <a:round/>
            </a:ln>
            <a:effectLst/>
          </c:spPr>
          <c:marker>
            <c:symbol val="none"/>
          </c:marker>
          <c:val>
            <c:numRef>
              <c:f>Sheet1!$Q$2:$Q$12</c:f>
              <c:numCache>
                <c:formatCode>General</c:formatCode>
                <c:ptCount val="11"/>
                <c:pt idx="0">
                  <c:v>1</c:v>
                </c:pt>
                <c:pt idx="1">
                  <c:v>2</c:v>
                </c:pt>
                <c:pt idx="2">
                  <c:v>3</c:v>
                </c:pt>
                <c:pt idx="3">
                  <c:v>4</c:v>
                </c:pt>
                <c:pt idx="4">
                  <c:v>5</c:v>
                </c:pt>
                <c:pt idx="5">
                  <c:v>6</c:v>
                </c:pt>
                <c:pt idx="6">
                  <c:v>8</c:v>
                </c:pt>
                <c:pt idx="7">
                  <c:v>9</c:v>
                </c:pt>
                <c:pt idx="8">
                  <c:v>10</c:v>
                </c:pt>
                <c:pt idx="9">
                  <c:v>11</c:v>
                </c:pt>
                <c:pt idx="10">
                  <c:v>12</c:v>
                </c:pt>
              </c:numCache>
            </c:numRef>
          </c:val>
          <c:smooth val="0"/>
          <c:extLst xmlns:c16r2="http://schemas.microsoft.com/office/drawing/2015/06/chart">
            <c:ext xmlns:c16="http://schemas.microsoft.com/office/drawing/2014/chart" uri="{C3380CC4-5D6E-409C-BE32-E72D297353CC}">
              <c16:uniqueId val="{00000000-878D-4508-9191-954EDC1EBB91}"/>
            </c:ext>
          </c:extLst>
        </c:ser>
        <c:ser>
          <c:idx val="1"/>
          <c:order val="1"/>
          <c:tx>
            <c:strRef>
              <c:f>Sheet1!$R$1</c:f>
              <c:strCache>
                <c:ptCount val="1"/>
                <c:pt idx="0">
                  <c:v>avg_engagement</c:v>
                </c:pt>
              </c:strCache>
            </c:strRef>
          </c:tx>
          <c:spPr>
            <a:ln w="28575" cap="rnd">
              <a:solidFill>
                <a:schemeClr val="accent2"/>
              </a:solidFill>
              <a:round/>
            </a:ln>
            <a:effectLst/>
          </c:spPr>
          <c:marker>
            <c:symbol val="none"/>
          </c:marker>
          <c:val>
            <c:numRef>
              <c:f>Sheet1!$R$2:$R$12</c:f>
              <c:numCache>
                <c:formatCode>General</c:formatCode>
                <c:ptCount val="11"/>
                <c:pt idx="0">
                  <c:v>65.72</c:v>
                </c:pt>
                <c:pt idx="1">
                  <c:v>103.62</c:v>
                </c:pt>
                <c:pt idx="2">
                  <c:v>143</c:v>
                </c:pt>
                <c:pt idx="3">
                  <c:v>183.46</c:v>
                </c:pt>
                <c:pt idx="4">
                  <c:v>212.36</c:v>
                </c:pt>
                <c:pt idx="5">
                  <c:v>247</c:v>
                </c:pt>
                <c:pt idx="6">
                  <c:v>310</c:v>
                </c:pt>
                <c:pt idx="7">
                  <c:v>347</c:v>
                </c:pt>
                <c:pt idx="8">
                  <c:v>385</c:v>
                </c:pt>
                <c:pt idx="9">
                  <c:v>375</c:v>
                </c:pt>
                <c:pt idx="10">
                  <c:v>405</c:v>
                </c:pt>
              </c:numCache>
            </c:numRef>
          </c:val>
          <c:smooth val="0"/>
          <c:extLst xmlns:c16r2="http://schemas.microsoft.com/office/drawing/2015/06/chart">
            <c:ext xmlns:c16="http://schemas.microsoft.com/office/drawing/2014/chart" uri="{C3380CC4-5D6E-409C-BE32-E72D297353CC}">
              <c16:uniqueId val="{00000001-878D-4508-9191-954EDC1EBB91}"/>
            </c:ext>
          </c:extLst>
        </c:ser>
        <c:dLbls>
          <c:showLegendKey val="0"/>
          <c:showVal val="0"/>
          <c:showCatName val="0"/>
          <c:showSerName val="0"/>
          <c:showPercent val="0"/>
          <c:showBubbleSize val="0"/>
        </c:dLbls>
        <c:smooth val="0"/>
        <c:axId val="1653351792"/>
        <c:axId val="1653352336"/>
      </c:lineChart>
      <c:catAx>
        <c:axId val="16533517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a:t>Total Posts</a:t>
                </a:r>
                <a:endParaRPr lang="en-IN"/>
              </a:p>
            </c:rich>
          </c:tx>
          <c:layout>
            <c:manualLayout>
              <c:xMode val="edge"/>
              <c:yMode val="edge"/>
              <c:x val="0.43238667154027144"/>
              <c:y val="0.9095535733928469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3352336"/>
        <c:crosses val="autoZero"/>
        <c:auto val="1"/>
        <c:lblAlgn val="ctr"/>
        <c:lblOffset val="100"/>
        <c:noMultiLvlLbl val="0"/>
      </c:catAx>
      <c:valAx>
        <c:axId val="1653352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a:t>Total Posts</a:t>
                </a:r>
                <a:endParaRPr lang="en-IN"/>
              </a:p>
            </c:rich>
          </c:tx>
          <c:layout>
            <c:manualLayout>
              <c:xMode val="edge"/>
              <c:yMode val="edge"/>
              <c:x val="1.6666666666666666E-2"/>
              <c:y val="0.3133253135024788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3351792"/>
        <c:crosses val="autoZero"/>
        <c:crossBetween val="between"/>
      </c:valAx>
      <c:spPr>
        <a:noFill/>
        <a:ln>
          <a:noFill/>
        </a:ln>
        <a:effectLst/>
      </c:spPr>
    </c:plotArea>
    <c:legend>
      <c:legendPos val="r"/>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dirty="0">
                <a:solidFill>
                  <a:schemeClr val="tx2"/>
                </a:solidFill>
              </a:rPr>
              <a:t>Average Engagement per Post by Joining Year</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Sheet1!$AA$2</c:f>
              <c:strCache>
                <c:ptCount val="1"/>
                <c:pt idx="0">
                  <c:v>2017</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Sheet1!$AB$2</c:f>
              <c:numCache>
                <c:formatCode>General</c:formatCode>
                <c:ptCount val="1"/>
                <c:pt idx="0">
                  <c:v>48.9</c:v>
                </c:pt>
              </c:numCache>
            </c:numRef>
          </c:val>
          <c:extLst xmlns:c16r2="http://schemas.microsoft.com/office/drawing/2015/06/chart">
            <c:ext xmlns:c16="http://schemas.microsoft.com/office/drawing/2014/chart" uri="{C3380CC4-5D6E-409C-BE32-E72D297353CC}">
              <c16:uniqueId val="{00000000-459B-4E6F-A2E4-AEC10F0BBC15}"/>
            </c:ext>
          </c:extLst>
        </c:ser>
        <c:ser>
          <c:idx val="1"/>
          <c:order val="1"/>
          <c:tx>
            <c:strRef>
              <c:f>Sheet1!$AA$3</c:f>
              <c:strCache>
                <c:ptCount val="1"/>
                <c:pt idx="0">
                  <c:v>2016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Sheet1!$AB$3</c:f>
              <c:numCache>
                <c:formatCode>General</c:formatCode>
                <c:ptCount val="1"/>
                <c:pt idx="0">
                  <c:v>51.43</c:v>
                </c:pt>
              </c:numCache>
            </c:numRef>
          </c:val>
          <c:extLst xmlns:c16r2="http://schemas.microsoft.com/office/drawing/2015/06/chart">
            <c:ext xmlns:c16="http://schemas.microsoft.com/office/drawing/2014/chart" uri="{C3380CC4-5D6E-409C-BE32-E72D297353CC}">
              <c16:uniqueId val="{00000001-459B-4E6F-A2E4-AEC10F0BBC15}"/>
            </c:ext>
          </c:extLst>
        </c:ser>
        <c:dLbls>
          <c:dLblPos val="outEnd"/>
          <c:showLegendKey val="0"/>
          <c:showVal val="1"/>
          <c:showCatName val="0"/>
          <c:showSerName val="0"/>
          <c:showPercent val="0"/>
          <c:showBubbleSize val="0"/>
        </c:dLbls>
        <c:gapWidth val="219"/>
        <c:overlap val="-27"/>
        <c:axId val="1653352880"/>
        <c:axId val="1653342544"/>
      </c:barChart>
      <c:catAx>
        <c:axId val="1653352880"/>
        <c:scaling>
          <c:orientation val="minMax"/>
        </c:scaling>
        <c:delete val="1"/>
        <c:axPos val="b"/>
        <c:numFmt formatCode="General" sourceLinked="1"/>
        <c:majorTickMark val="none"/>
        <c:minorTickMark val="none"/>
        <c:tickLblPos val="nextTo"/>
        <c:crossAx val="1653342544"/>
        <c:crosses val="autoZero"/>
        <c:auto val="1"/>
        <c:lblAlgn val="ctr"/>
        <c:lblOffset val="100"/>
        <c:noMultiLvlLbl val="0"/>
      </c:catAx>
      <c:valAx>
        <c:axId val="1653342544"/>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aseline="0" dirty="0">
                    <a:solidFill>
                      <a:schemeClr val="tx2"/>
                    </a:solidFill>
                  </a:rPr>
                  <a:t>Average Engagement</a:t>
                </a:r>
              </a:p>
            </c:rich>
          </c:tx>
          <c:layout>
            <c:manualLayout>
              <c:xMode val="edge"/>
              <c:yMode val="edge"/>
              <c:x val="1.9444444444444445E-2"/>
              <c:y val="0.2936107465733450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crossAx val="1653352880"/>
        <c:crosses val="autoZero"/>
        <c:crossBetween val="between"/>
      </c:valAx>
      <c:spPr>
        <a:noFill/>
        <a:ln>
          <a:noFill/>
        </a:ln>
        <a:effectLst/>
      </c:spPr>
    </c:plotArea>
    <c:legend>
      <c:legendPos val="b"/>
      <c:layout>
        <c:manualLayout>
          <c:xMode val="edge"/>
          <c:yMode val="edge"/>
          <c:x val="0.24791163604549432"/>
          <c:y val="0.88483741615631384"/>
          <c:w val="0.57362117235345578"/>
          <c:h val="7.8125546806649168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User Segmentation Distribution</a:t>
            </a:r>
            <a:endParaRPr lang="en-IN" dirty="0">
              <a:solidFill>
                <a:schemeClr val="tx2"/>
              </a:solidFill>
            </a:endParaRPr>
          </a:p>
        </c:rich>
      </c:tx>
      <c:overlay val="0"/>
      <c:spPr>
        <a:noFill/>
        <a:ln>
          <a:noFill/>
        </a:ln>
        <a:effectLst/>
      </c:spPr>
    </c:title>
    <c:autoTitleDeleted val="0"/>
    <c:plotArea>
      <c:layout>
        <c:manualLayout>
          <c:layoutTarget val="inner"/>
          <c:xMode val="edge"/>
          <c:yMode val="edge"/>
          <c:x val="0.14578499562554681"/>
          <c:y val="0.17171296296296298"/>
          <c:w val="0.40287467191601051"/>
          <c:h val="0.6714577865266842"/>
        </c:manualLayout>
      </c:layout>
      <c:pieChart>
        <c:varyColors val="1"/>
        <c:ser>
          <c:idx val="0"/>
          <c:order val="0"/>
          <c:dPt>
            <c:idx val="0"/>
            <c:bubble3D val="0"/>
            <c:spPr>
              <a:solidFill>
                <a:schemeClr val="accent1"/>
              </a:solidFill>
              <a:ln w="19050">
                <a:solidFill>
                  <a:schemeClr val="lt1"/>
                </a:solidFill>
              </a:ln>
              <a:effectLst/>
            </c:spPr>
            <c:extLst xmlns:c16r2="http://schemas.microsoft.com/office/drawing/2015/06/chart">
              <c:ext xmlns:c16="http://schemas.microsoft.com/office/drawing/2014/chart" uri="{C3380CC4-5D6E-409C-BE32-E72D297353CC}">
                <c16:uniqueId val="{00000001-61F6-4FCF-9C62-ADFC9D61DCF3}"/>
              </c:ext>
            </c:extLst>
          </c:dPt>
          <c:dPt>
            <c:idx val="1"/>
            <c:bubble3D val="0"/>
            <c:spPr>
              <a:solidFill>
                <a:schemeClr val="accent2"/>
              </a:solidFill>
              <a:ln w="19050">
                <a:solidFill>
                  <a:schemeClr val="lt1"/>
                </a:solidFill>
              </a:ln>
              <a:effectLst/>
            </c:spPr>
            <c:extLst xmlns:c16r2="http://schemas.microsoft.com/office/drawing/2015/06/chart">
              <c:ext xmlns:c16="http://schemas.microsoft.com/office/drawing/2014/chart" uri="{C3380CC4-5D6E-409C-BE32-E72D297353CC}">
                <c16:uniqueId val="{00000003-61F6-4FCF-9C62-ADFC9D61DCF3}"/>
              </c:ext>
            </c:extLst>
          </c:dPt>
          <c:dPt>
            <c:idx val="2"/>
            <c:bubble3D val="0"/>
            <c:spPr>
              <a:solidFill>
                <a:schemeClr val="accent3"/>
              </a:solidFill>
              <a:ln w="19050">
                <a:solidFill>
                  <a:schemeClr val="lt1"/>
                </a:solidFill>
              </a:ln>
              <a:effectLst/>
            </c:spPr>
            <c:extLst xmlns:c16r2="http://schemas.microsoft.com/office/drawing/2015/06/chart">
              <c:ext xmlns:c16="http://schemas.microsoft.com/office/drawing/2014/chart" uri="{C3380CC4-5D6E-409C-BE32-E72D297353CC}">
                <c16:uniqueId val="{00000005-61F6-4FCF-9C62-ADFC9D61DCF3}"/>
              </c:ext>
            </c:extLst>
          </c:dPt>
          <c:dPt>
            <c:idx val="3"/>
            <c:bubble3D val="0"/>
            <c:spPr>
              <a:solidFill>
                <a:schemeClr val="accent4"/>
              </a:solidFill>
              <a:ln w="19050">
                <a:solidFill>
                  <a:schemeClr val="lt1"/>
                </a:solidFill>
              </a:ln>
              <a:effectLst/>
            </c:spPr>
            <c:extLst xmlns:c16r2="http://schemas.microsoft.com/office/drawing/2015/06/chart">
              <c:ext xmlns:c16="http://schemas.microsoft.com/office/drawing/2014/chart" uri="{C3380CC4-5D6E-409C-BE32-E72D297353CC}">
                <c16:uniqueId val="{00000007-61F6-4FCF-9C62-ADFC9D61DCF3}"/>
              </c:ext>
            </c:extLst>
          </c:dPt>
          <c:dLbls>
            <c:dLbl>
              <c:idx val="0"/>
              <c:tx>
                <c:rich>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fld id="{A27290CA-5B22-40A5-8F73-007734DBDB83}" type="PERCENTAGE">
                      <a:rPr lang="en-US" sz="1100">
                        <a:solidFill>
                          <a:schemeClr val="tx2"/>
                        </a:solidFill>
                      </a:rPr>
                      <a:pPr>
                        <a:defRPr sz="900" b="0" i="0" u="none" strike="noStrike" kern="1200" baseline="0">
                          <a:solidFill>
                            <a:schemeClr val="tx1">
                              <a:lumMod val="75000"/>
                              <a:lumOff val="25000"/>
                            </a:schemeClr>
                          </a:solidFill>
                          <a:latin typeface="+mn-lt"/>
                          <a:ea typeface="+mn-ea"/>
                          <a:cs typeface="+mn-cs"/>
                        </a:defRPr>
                      </a:pPr>
                      <a:t>[PERCENTAGE]</a:t>
                    </a:fld>
                    <a:endParaRPr lang="en-US"/>
                  </a:p>
                </c:rich>
              </c:tx>
              <c:spPr>
                <a:noFill/>
                <a:ln>
                  <a:noFill/>
                </a:ln>
                <a:effectLst/>
              </c:spPr>
              <c:dLblPos val="outEnd"/>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1-61F6-4FCF-9C62-ADFC9D61DCF3}"/>
                </c:ext>
                <c:ext xmlns:c15="http://schemas.microsoft.com/office/drawing/2012/chart" uri="{CE6537A1-D6FC-4f65-9D91-7224C49458BB}">
                  <c15:spPr xmlns:c15="http://schemas.microsoft.com/office/drawing/2012/chart">
                    <a:prstGeom prst="rect">
                      <a:avLst/>
                    </a:prstGeom>
                  </c15:spPr>
                  <c15:dlblFieldTable/>
                  <c15:showDataLabelsRange val="0"/>
                </c:ext>
              </c:extLst>
            </c:dLbl>
            <c:dLbl>
              <c:idx val="1"/>
              <c:tx>
                <c:rich>
                  <a:bodyPr/>
                  <a:lstStyle/>
                  <a:p>
                    <a:fld id="{2B166F1B-904A-4C5F-821E-DBFA0C6E7E0F}" type="PERCENTAGE">
                      <a:rPr lang="en-US" sz="1100"/>
                      <a:pPr/>
                      <a:t>[PERCENTAGE]</a:t>
                    </a:fld>
                    <a:endParaRPr lang="en-US"/>
                  </a:p>
                </c:rich>
              </c:tx>
              <c:dLblPos val="outEnd"/>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3-61F6-4FCF-9C62-ADFC9D61DCF3}"/>
                </c:ext>
                <c:ext xmlns:c15="http://schemas.microsoft.com/office/drawing/2012/chart" uri="{CE6537A1-D6FC-4f65-9D91-7224C49458BB}">
                  <c15:dlblFieldTable/>
                  <c15:showDataLabelsRange val="0"/>
                </c:ext>
              </c:extLst>
            </c:dLbl>
            <c:dLbl>
              <c:idx val="2"/>
              <c:tx>
                <c:rich>
                  <a:bodyPr/>
                  <a:lstStyle/>
                  <a:p>
                    <a:fld id="{3C758EE3-1AC3-41F6-BE82-620C6D94DF0F}" type="PERCENTAGE">
                      <a:rPr lang="en-US" sz="1050">
                        <a:solidFill>
                          <a:schemeClr val="tx2"/>
                        </a:solidFill>
                      </a:rPr>
                      <a:pPr/>
                      <a:t>[PERCENTAGE]</a:t>
                    </a:fld>
                    <a:endParaRPr lang="en-US"/>
                  </a:p>
                </c:rich>
              </c:tx>
              <c:dLblPos val="outEnd"/>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5-61F6-4FCF-9C62-ADFC9D61DCF3}"/>
                </c:ext>
                <c:ext xmlns:c15="http://schemas.microsoft.com/office/drawing/2012/chart" uri="{CE6537A1-D6FC-4f65-9D91-7224C49458BB}">
                  <c15:dlblFieldTable/>
                  <c15:showDataLabelsRange val="0"/>
                </c:ext>
              </c:extLst>
            </c:dLbl>
            <c:dLbl>
              <c:idx val="3"/>
              <c:tx>
                <c:rich>
                  <a:bodyPr/>
                  <a:lstStyle/>
                  <a:p>
                    <a:fld id="{CD79EC9B-D565-46B3-A5EE-58AC76DF236A}" type="PERCENTAGE">
                      <a:rPr lang="en-US" sz="1100">
                        <a:solidFill>
                          <a:schemeClr val="tx2"/>
                        </a:solidFill>
                      </a:rPr>
                      <a:pPr/>
                      <a:t>[PERCENTAGE]</a:t>
                    </a:fld>
                    <a:endParaRPr lang="en-US"/>
                  </a:p>
                </c:rich>
              </c:tx>
              <c:dLblPos val="outEnd"/>
              <c:showLegendKey val="0"/>
              <c:showVal val="0"/>
              <c:showCatName val="0"/>
              <c:showSerName val="0"/>
              <c:showPercent val="1"/>
              <c:showBubbleSize val="0"/>
              <c:extLst xmlns:c16r2="http://schemas.microsoft.com/office/drawing/2015/06/chart">
                <c:ext xmlns:c16="http://schemas.microsoft.com/office/drawing/2014/chart" uri="{C3380CC4-5D6E-409C-BE32-E72D297353CC}">
                  <c16:uniqueId val="{00000007-61F6-4FCF-9C62-ADFC9D61DCF3}"/>
                </c:ext>
                <c:ext xmlns:c15="http://schemas.microsoft.com/office/drawing/2012/chart" uri="{CE6537A1-D6FC-4f65-9D91-7224C49458BB}">
                  <c15:dlblFieldTable/>
                  <c15:showDataLabelsRange val="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Sheet1!$AI$3:$AI$6</c:f>
              <c:strCache>
                <c:ptCount val="4"/>
                <c:pt idx="0">
                  <c:v>High-Value Creators</c:v>
                </c:pt>
                <c:pt idx="1">
                  <c:v>Emerging Users</c:v>
                </c:pt>
                <c:pt idx="2">
                  <c:v>Inactive Users</c:v>
                </c:pt>
                <c:pt idx="3">
                  <c:v>Active Low-Engagement</c:v>
                </c:pt>
              </c:strCache>
            </c:strRef>
          </c:cat>
          <c:val>
            <c:numRef>
              <c:f>Sheet1!$AJ$3:$AJ$6</c:f>
              <c:numCache>
                <c:formatCode>General</c:formatCode>
                <c:ptCount val="4"/>
                <c:pt idx="0">
                  <c:v>19</c:v>
                </c:pt>
                <c:pt idx="1">
                  <c:v>53</c:v>
                </c:pt>
                <c:pt idx="2">
                  <c:v>26</c:v>
                </c:pt>
                <c:pt idx="3">
                  <c:v>2</c:v>
                </c:pt>
              </c:numCache>
            </c:numRef>
          </c:val>
          <c:extLst xmlns:c16r2="http://schemas.microsoft.com/office/drawing/2015/06/chart">
            <c:ext xmlns:c16="http://schemas.microsoft.com/office/drawing/2014/chart" uri="{C3380CC4-5D6E-409C-BE32-E72D297353CC}">
              <c16:uniqueId val="{00000008-61F6-4FCF-9C62-ADFC9D61DCF3}"/>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59722222222222221"/>
          <c:y val="0.27835593467483227"/>
          <c:w val="0.33333333333333331"/>
          <c:h val="0.4999711335575162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solidFill>
                  <a:schemeClr val="tx2"/>
                </a:solidFill>
              </a:rPr>
              <a:t>Top Users by Engagement Efficiency</a:t>
            </a:r>
            <a:endParaRPr lang="en-IN" dirty="0">
              <a:solidFill>
                <a:schemeClr val="tx2"/>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Sheet1!$AN$3:$AN$7</c:f>
              <c:strCache>
                <c:ptCount val="5"/>
                <c:pt idx="0">
                  <c:v>Janet.Armstrong</c:v>
                </c:pt>
                <c:pt idx="1">
                  <c:v>Alexandro35</c:v>
                </c:pt>
                <c:pt idx="2">
                  <c:v>Zack_Kemmer93</c:v>
                </c:pt>
                <c:pt idx="3">
                  <c:v>Justina.Gaylord27</c:v>
                </c:pt>
                <c:pt idx="4">
                  <c:v>Florence99</c:v>
                </c:pt>
              </c:strCache>
            </c:strRef>
          </c:cat>
          <c:val>
            <c:numRef>
              <c:f>Sheet1!$AO$3:$AO$7</c:f>
              <c:numCache>
                <c:formatCode>General</c:formatCode>
                <c:ptCount val="5"/>
                <c:pt idx="0">
                  <c:v>44.4</c:v>
                </c:pt>
                <c:pt idx="1">
                  <c:v>44</c:v>
                </c:pt>
                <c:pt idx="2">
                  <c:v>43.8</c:v>
                </c:pt>
                <c:pt idx="3">
                  <c:v>43.2</c:v>
                </c:pt>
                <c:pt idx="4">
                  <c:v>42.8</c:v>
                </c:pt>
              </c:numCache>
            </c:numRef>
          </c:val>
          <c:extLst xmlns:c16r2="http://schemas.microsoft.com/office/drawing/2015/06/chart">
            <c:ext xmlns:c16="http://schemas.microsoft.com/office/drawing/2014/chart" uri="{C3380CC4-5D6E-409C-BE32-E72D297353CC}">
              <c16:uniqueId val="{00000000-D239-4B5D-8AD0-EBDC4CC26F04}"/>
            </c:ext>
          </c:extLst>
        </c:ser>
        <c:dLbls>
          <c:dLblPos val="outEnd"/>
          <c:showLegendKey val="0"/>
          <c:showVal val="1"/>
          <c:showCatName val="0"/>
          <c:showSerName val="0"/>
          <c:showPercent val="0"/>
          <c:showBubbleSize val="0"/>
        </c:dLbls>
        <c:gapWidth val="182"/>
        <c:axId val="1653343088"/>
        <c:axId val="1653344176"/>
      </c:barChart>
      <c:catAx>
        <c:axId val="1653343088"/>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r>
                  <a:rPr lang="en-IN" sz="1000" b="0" i="0" u="none" strike="noStrike" baseline="0">
                    <a:solidFill>
                      <a:schemeClr val="tx2"/>
                    </a:solidFill>
                  </a:rPr>
                  <a:t>Username</a:t>
                </a:r>
                <a:endParaRPr lang="en-IN" baseline="0">
                  <a:solidFill>
                    <a:schemeClr val="tx2"/>
                  </a:solidFill>
                </a:endParaRPr>
              </a:p>
            </c:rich>
          </c:tx>
          <c:layout>
            <c:manualLayout>
              <c:xMode val="edge"/>
              <c:yMode val="edge"/>
              <c:x val="2.810018589600995E-2"/>
              <c:y val="0.420674380453426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3344176"/>
        <c:crosses val="autoZero"/>
        <c:auto val="1"/>
        <c:lblAlgn val="ctr"/>
        <c:lblOffset val="100"/>
        <c:noMultiLvlLbl val="0"/>
      </c:catAx>
      <c:valAx>
        <c:axId val="1653344176"/>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sz="1000" b="0" i="0" u="none" strike="noStrike" baseline="0" dirty="0">
                    <a:solidFill>
                      <a:schemeClr val="tx2"/>
                    </a:solidFill>
                  </a:rPr>
                  <a:t>Engagement per Post</a:t>
                </a:r>
                <a:endParaRPr lang="en-IN" dirty="0">
                  <a:solidFill>
                    <a:schemeClr val="tx2"/>
                  </a:solidFill>
                </a:endParaRPr>
              </a:p>
            </c:rich>
          </c:tx>
          <c:layout>
            <c:manualLayout>
              <c:xMode val="edge"/>
              <c:yMode val="edge"/>
              <c:x val="0.4181239300200007"/>
              <c:y val="0.9024006748785187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3343088"/>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F47FA-A77A-43CC-B2DB-CA7205D884E1}"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628CC4-7173-48E5-B96E-F2974DAD5720}" type="slidenum">
              <a:rPr lang="en-US" smtClean="0"/>
              <a:t>‹#›</a:t>
            </a:fld>
            <a:endParaRPr lang="en-US"/>
          </a:p>
        </p:txBody>
      </p:sp>
    </p:spTree>
    <p:extLst>
      <p:ext uri="{BB962C8B-B14F-4D97-AF65-F5344CB8AC3E}">
        <p14:creationId xmlns:p14="http://schemas.microsoft.com/office/powerpoint/2010/main" val="783024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8628CC4-7173-48E5-B96E-F2974DAD5720}" type="slidenum">
              <a:rPr lang="en-US" smtClean="0"/>
              <a:t>6</a:t>
            </a:fld>
            <a:endParaRPr lang="en-US"/>
          </a:p>
        </p:txBody>
      </p:sp>
    </p:spTree>
    <p:extLst>
      <p:ext uri="{BB962C8B-B14F-4D97-AF65-F5344CB8AC3E}">
        <p14:creationId xmlns:p14="http://schemas.microsoft.com/office/powerpoint/2010/main" val="1708925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8628CC4-7173-48E5-B96E-F2974DAD5720}" type="slidenum">
              <a:rPr lang="en-US" smtClean="0"/>
              <a:t>7</a:t>
            </a:fld>
            <a:endParaRPr lang="en-US"/>
          </a:p>
        </p:txBody>
      </p:sp>
    </p:spTree>
    <p:extLst>
      <p:ext uri="{BB962C8B-B14F-4D97-AF65-F5344CB8AC3E}">
        <p14:creationId xmlns:p14="http://schemas.microsoft.com/office/powerpoint/2010/main" val="1436124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1B104A-8F1C-4432-8286-3C8BBE690402}" type="datetimeFigureOut">
              <a:rPr lang="en-IN" smtClean="0"/>
              <a:t>03-03-2026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3645089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1B104A-8F1C-4432-8286-3C8BBE690402}" type="datetimeFigureOut">
              <a:rPr lang="en-IN" smtClean="0"/>
              <a:t>03-03-2026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806644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1B104A-8F1C-4432-8286-3C8BBE690402}" type="datetimeFigureOut">
              <a:rPr lang="en-IN" smtClean="0"/>
              <a:t>03-03-2026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059472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1B104A-8F1C-4432-8286-3C8BBE690402}" type="datetimeFigureOut">
              <a:rPr lang="en-IN" smtClean="0"/>
              <a:t>03-03-2026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431655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1B104A-8F1C-4432-8286-3C8BBE690402}" type="datetimeFigureOut">
              <a:rPr lang="en-IN" smtClean="0"/>
              <a:t>03-03-2026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838827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1B104A-8F1C-4432-8286-3C8BBE690402}" type="datetimeFigureOut">
              <a:rPr lang="en-IN" smtClean="0"/>
              <a:t>03-03-2026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1123338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1B104A-8F1C-4432-8286-3C8BBE690402}" type="datetimeFigureOut">
              <a:rPr lang="en-IN" smtClean="0"/>
              <a:t>03-03-2026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4154067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1B104A-8F1C-4432-8286-3C8BBE690402}" type="datetimeFigureOut">
              <a:rPr lang="en-IN" smtClean="0"/>
              <a:t>03-03-2026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696975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1B104A-8F1C-4432-8286-3C8BBE690402}" type="datetimeFigureOut">
              <a:rPr lang="en-IN" smtClean="0"/>
              <a:t>03-03-2026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354118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1B104A-8F1C-4432-8286-3C8BBE690402}" type="datetimeFigureOut">
              <a:rPr lang="en-IN" smtClean="0"/>
              <a:t>03-03-2026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292456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1B104A-8F1C-4432-8286-3C8BBE690402}" type="datetimeFigureOut">
              <a:rPr lang="en-IN" smtClean="0"/>
              <a:t>03-03-2026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94BC260-E2FE-46EB-AF1E-3BD9A3D24675}" type="slidenum">
              <a:rPr lang="en-IN" smtClean="0"/>
              <a:t>‹#›</a:t>
            </a:fld>
            <a:endParaRPr lang="en-IN"/>
          </a:p>
        </p:txBody>
      </p:sp>
    </p:spTree>
    <p:extLst>
      <p:ext uri="{BB962C8B-B14F-4D97-AF65-F5344CB8AC3E}">
        <p14:creationId xmlns:p14="http://schemas.microsoft.com/office/powerpoint/2010/main" val="86369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1B104A-8F1C-4432-8286-3C8BBE690402}" type="datetimeFigureOut">
              <a:rPr lang="en-IN" smtClean="0"/>
              <a:t>03-03-2026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4BC260-E2FE-46EB-AF1E-3BD9A3D24675}" type="slidenum">
              <a:rPr lang="en-IN" smtClean="0"/>
              <a:t>‹#›</a:t>
            </a:fld>
            <a:endParaRPr lang="en-IN"/>
          </a:p>
        </p:txBody>
      </p:sp>
    </p:spTree>
    <p:extLst>
      <p:ext uri="{BB962C8B-B14F-4D97-AF65-F5344CB8AC3E}">
        <p14:creationId xmlns:p14="http://schemas.microsoft.com/office/powerpoint/2010/main" val="3810015495"/>
      </p:ext>
    </p:extLst>
  </p:cSld>
  <p:clrMap bg1="lt1" tx1="dk1" bg2="lt2" tx2="dk2" accent1="accent1" accent2="accent2" accent3="accent3" accent4="accent4" accent5="accent5" accent6="accent6" hlink="hlink" folHlink="folHlink"/>
  <p:sldLayoutIdLst>
    <p:sldLayoutId id="2147484342" r:id="rId1"/>
    <p:sldLayoutId id="2147484343" r:id="rId2"/>
    <p:sldLayoutId id="2147484344" r:id="rId3"/>
    <p:sldLayoutId id="2147484345" r:id="rId4"/>
    <p:sldLayoutId id="2147484346" r:id="rId5"/>
    <p:sldLayoutId id="2147484347" r:id="rId6"/>
    <p:sldLayoutId id="2147484348" r:id="rId7"/>
    <p:sldLayoutId id="2147484349" r:id="rId8"/>
    <p:sldLayoutId id="2147484350" r:id="rId9"/>
    <p:sldLayoutId id="2147484351" r:id="rId10"/>
    <p:sldLayoutId id="21474843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51" name="Rectangle 1050">
            <a:extLst>
              <a:ext uri="{FF2B5EF4-FFF2-40B4-BE49-F238E27FC236}">
                <a16:creationId xmlns:a16="http://schemas.microsoft.com/office/drawing/2014/main" xmlns="" id="{23D09407-53BC-485E-B4CE-BC5E4FC4B2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xmlns="" id="{921DB988-49FC-4608-B0A2-E2F3A401904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C1DCC99-64BC-11C6-8FE9-8BE60D975625}"/>
              </a:ext>
            </a:extLst>
          </p:cNvPr>
          <p:cNvSpPr>
            <a:spLocks noGrp="1"/>
          </p:cNvSpPr>
          <p:nvPr>
            <p:ph type="ctrTitle"/>
          </p:nvPr>
        </p:nvSpPr>
        <p:spPr>
          <a:xfrm>
            <a:off x="1776447" y="4042823"/>
            <a:ext cx="8901278" cy="775845"/>
          </a:xfrm>
        </p:spPr>
        <p:txBody>
          <a:bodyPr anchor="b">
            <a:normAutofit fontScale="90000"/>
          </a:bodyPr>
          <a:lstStyle/>
          <a:p>
            <a:r>
              <a:rPr lang="en-IN" sz="4000" b="1" dirty="0">
                <a:solidFill>
                  <a:schemeClr val="accent1">
                    <a:lumMod val="75000"/>
                  </a:schemeClr>
                </a:solidFill>
                <a:effectLst>
                  <a:outerShdw blurRad="38100" dist="38100" dir="2700000" algn="tl">
                    <a:srgbClr val="000000">
                      <a:alpha val="43137"/>
                    </a:srgbClr>
                  </a:outerShdw>
                </a:effectLst>
              </a:rPr>
              <a:t>Social Media Engagement &amp; User Behavior Analytics</a:t>
            </a:r>
          </a:p>
        </p:txBody>
      </p:sp>
      <p:sp>
        <p:nvSpPr>
          <p:cNvPr id="3" name="Subtitle 2">
            <a:extLst>
              <a:ext uri="{FF2B5EF4-FFF2-40B4-BE49-F238E27FC236}">
                <a16:creationId xmlns:a16="http://schemas.microsoft.com/office/drawing/2014/main" xmlns="" id="{C5D25F8F-D8AC-A248-7B0F-0CB4B9AC70FC}"/>
              </a:ext>
            </a:extLst>
          </p:cNvPr>
          <p:cNvSpPr>
            <a:spLocks noGrp="1"/>
          </p:cNvSpPr>
          <p:nvPr>
            <p:ph type="subTitle" idx="1"/>
          </p:nvPr>
        </p:nvSpPr>
        <p:spPr>
          <a:xfrm>
            <a:off x="1513968" y="4873500"/>
            <a:ext cx="9163757" cy="450447"/>
          </a:xfrm>
        </p:spPr>
        <p:txBody>
          <a:bodyPr anchor="ctr">
            <a:normAutofit/>
          </a:bodyPr>
          <a:lstStyle/>
          <a:p>
            <a:r>
              <a:rPr lang="en-IN" sz="2000" dirty="0">
                <a:solidFill>
                  <a:schemeClr val="tx2"/>
                </a:solidFill>
              </a:rPr>
              <a:t>Submitted </a:t>
            </a:r>
            <a:r>
              <a:rPr lang="en-IN" sz="2000" dirty="0" smtClean="0">
                <a:solidFill>
                  <a:schemeClr val="tx2"/>
                </a:solidFill>
              </a:rPr>
              <a:t>By: Sunnyhitha Panuaganti</a:t>
            </a:r>
            <a:endParaRPr lang="en-IN" sz="2000" dirty="0">
              <a:solidFill>
                <a:schemeClr val="tx2"/>
              </a:solidFill>
            </a:endParaRPr>
          </a:p>
        </p:txBody>
      </p:sp>
      <p:grpSp>
        <p:nvGrpSpPr>
          <p:cNvPr id="1055" name="Group 1054">
            <a:extLst>
              <a:ext uri="{FF2B5EF4-FFF2-40B4-BE49-F238E27FC236}">
                <a16:creationId xmlns:a16="http://schemas.microsoft.com/office/drawing/2014/main" xmlns="" id="{E9B930FD-8671-4C4C-ADCF-73AC1D0CD417}"/>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flipH="1">
            <a:off x="9676747" y="0"/>
            <a:ext cx="2514948" cy="2174333"/>
            <a:chOff x="-305" y="-4155"/>
            <a:chExt cx="2514948" cy="2174333"/>
          </a:xfrm>
        </p:grpSpPr>
        <p:sp>
          <p:nvSpPr>
            <p:cNvPr id="1056" name="Freeform: Shape 1055">
              <a:extLst>
                <a:ext uri="{FF2B5EF4-FFF2-40B4-BE49-F238E27FC236}">
                  <a16:creationId xmlns:a16="http://schemas.microsoft.com/office/drawing/2014/main" xmlns="" id="{C35B12C1-569C-4E37-AA33-7EF215F201B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Freeform: Shape 1056">
              <a:extLst>
                <a:ext uri="{FF2B5EF4-FFF2-40B4-BE49-F238E27FC236}">
                  <a16:creationId xmlns:a16="http://schemas.microsoft.com/office/drawing/2014/main" xmlns="" id="{F23E2660-7810-46F6-8752-187127C830C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Freeform: Shape 1057">
              <a:extLst>
                <a:ext uri="{FF2B5EF4-FFF2-40B4-BE49-F238E27FC236}">
                  <a16:creationId xmlns:a16="http://schemas.microsoft.com/office/drawing/2014/main" xmlns="" id="{C991DC45-0378-45B3-B325-FB8F98545E6A}"/>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59" name="Freeform: Shape 1058">
              <a:extLst>
                <a:ext uri="{FF2B5EF4-FFF2-40B4-BE49-F238E27FC236}">
                  <a16:creationId xmlns:a16="http://schemas.microsoft.com/office/drawing/2014/main" xmlns="" id="{E228F5BA-5150-4554-B7EA-93F371F3B17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61" name="Group 1060">
            <a:extLst>
              <a:ext uri="{FF2B5EF4-FFF2-40B4-BE49-F238E27FC236}">
                <a16:creationId xmlns:a16="http://schemas.microsoft.com/office/drawing/2014/main" xmlns="" id="{383C2651-AE0C-4AE4-8725-E2F9414FE21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rot="10800000" flipH="1">
            <a:off x="-305" y="4322879"/>
            <a:ext cx="3378428" cy="2535121"/>
            <a:chOff x="-305" y="-1"/>
            <a:chExt cx="3832880" cy="2876136"/>
          </a:xfrm>
        </p:grpSpPr>
        <p:sp>
          <p:nvSpPr>
            <p:cNvPr id="1062" name="Freeform: Shape 1061">
              <a:extLst>
                <a:ext uri="{FF2B5EF4-FFF2-40B4-BE49-F238E27FC236}">
                  <a16:creationId xmlns:a16="http://schemas.microsoft.com/office/drawing/2014/main" xmlns="" id="{CCE13265-B5D2-47B4-A199-E05F390D5B9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Freeform: Shape 1062">
              <a:extLst>
                <a:ext uri="{FF2B5EF4-FFF2-40B4-BE49-F238E27FC236}">
                  <a16:creationId xmlns:a16="http://schemas.microsoft.com/office/drawing/2014/main" xmlns="" id="{693EBD03-D832-462C-9304-7273698ED4F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4" name="Freeform: Shape 1063">
              <a:extLst>
                <a:ext uri="{FF2B5EF4-FFF2-40B4-BE49-F238E27FC236}">
                  <a16:creationId xmlns:a16="http://schemas.microsoft.com/office/drawing/2014/main" xmlns="" id="{0D53D3E2-805E-40D2-964F-352BF6D476B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5" name="Freeform: Shape 1064">
              <a:extLst>
                <a:ext uri="{FF2B5EF4-FFF2-40B4-BE49-F238E27FC236}">
                  <a16:creationId xmlns:a16="http://schemas.microsoft.com/office/drawing/2014/main" xmlns="" id="{B7A9A916-A926-43E6-800F-432ABC3F244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2610" y="738434"/>
            <a:ext cx="5066471" cy="2476846"/>
          </a:xfrm>
          <a:prstGeom prst="rect">
            <a:avLst/>
          </a:prstGeom>
        </p:spPr>
      </p:pic>
    </p:spTree>
    <p:extLst>
      <p:ext uri="{BB962C8B-B14F-4D97-AF65-F5344CB8AC3E}">
        <p14:creationId xmlns:p14="http://schemas.microsoft.com/office/powerpoint/2010/main" val="15549969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15249" y="983671"/>
            <a:ext cx="2324098" cy="886692"/>
          </a:xfrm>
        </p:spPr>
        <p:txBody>
          <a:bodyPr/>
          <a:lstStyle/>
          <a:p>
            <a:r>
              <a:rPr lang="en-IN" b="1" dirty="0" smtClean="0">
                <a:solidFill>
                  <a:schemeClr val="accent1">
                    <a:lumMod val="75000"/>
                  </a:schemeClr>
                </a:solidFill>
              </a:rPr>
              <a:t>AGENDA</a:t>
            </a:r>
            <a:endParaRPr lang="en-US" dirty="0"/>
          </a:p>
        </p:txBody>
      </p:sp>
      <p:sp>
        <p:nvSpPr>
          <p:cNvPr id="6" name="TextBox 5"/>
          <p:cNvSpPr txBox="1"/>
          <p:nvPr/>
        </p:nvSpPr>
        <p:spPr>
          <a:xfrm>
            <a:off x="1070264" y="1870363"/>
            <a:ext cx="3945084" cy="4339650"/>
          </a:xfrm>
          <a:prstGeom prst="rect">
            <a:avLst/>
          </a:prstGeom>
          <a:noFill/>
        </p:spPr>
        <p:txBody>
          <a:bodyPr wrap="square" rtlCol="0">
            <a:spAutoFit/>
          </a:bodyPr>
          <a:lstStyle/>
          <a:p>
            <a:pPr marL="285750" lvl="0" indent="-285750">
              <a:lnSpc>
                <a:spcPct val="300000"/>
              </a:lnSpc>
              <a:buFont typeface="Arial" panose="020B0604020202020204" pitchFamily="34" charset="0"/>
              <a:buChar char="•"/>
            </a:pPr>
            <a:r>
              <a:rPr lang="en-IN" sz="2400" dirty="0"/>
              <a:t>Problem </a:t>
            </a:r>
            <a:r>
              <a:rPr lang="en-IN" sz="2400" dirty="0" smtClean="0"/>
              <a:t>Statement</a:t>
            </a:r>
          </a:p>
          <a:p>
            <a:pPr marL="285750" indent="-285750">
              <a:lnSpc>
                <a:spcPct val="250000"/>
              </a:lnSpc>
              <a:buFont typeface="Arial" panose="020B0604020202020204" pitchFamily="34" charset="0"/>
              <a:buChar char="•"/>
            </a:pPr>
            <a:r>
              <a:rPr lang="en-IN" sz="2400" dirty="0" smtClean="0"/>
              <a:t>Database Schema</a:t>
            </a:r>
            <a:endParaRPr lang="en-IN" sz="2400" dirty="0" smtClean="0"/>
          </a:p>
          <a:p>
            <a:pPr marL="285750" lvl="0" indent="-285750">
              <a:lnSpc>
                <a:spcPct val="300000"/>
              </a:lnSpc>
              <a:buFont typeface="Arial" panose="020B0604020202020204" pitchFamily="34" charset="0"/>
              <a:buChar char="•"/>
            </a:pPr>
            <a:r>
              <a:rPr lang="en-IN" sz="2400" dirty="0"/>
              <a:t>Marketing Strategies</a:t>
            </a:r>
            <a:endParaRPr lang="en-US" sz="2400" dirty="0"/>
          </a:p>
          <a:p>
            <a:pPr marL="285750" indent="-285750">
              <a:lnSpc>
                <a:spcPct val="300000"/>
              </a:lnSpc>
              <a:buFont typeface="Arial" panose="020B0604020202020204" pitchFamily="34" charset="0"/>
              <a:buChar char="•"/>
            </a:pPr>
            <a:endParaRPr lang="en-US" sz="2400" dirty="0"/>
          </a:p>
        </p:txBody>
      </p:sp>
      <p:sp>
        <p:nvSpPr>
          <p:cNvPr id="7" name="TextBox 6"/>
          <p:cNvSpPr txBox="1"/>
          <p:nvPr/>
        </p:nvSpPr>
        <p:spPr>
          <a:xfrm>
            <a:off x="6539347" y="1870363"/>
            <a:ext cx="3945084" cy="4339650"/>
          </a:xfrm>
          <a:prstGeom prst="rect">
            <a:avLst/>
          </a:prstGeom>
          <a:noFill/>
        </p:spPr>
        <p:txBody>
          <a:bodyPr wrap="square" rtlCol="0">
            <a:spAutoFit/>
          </a:bodyPr>
          <a:lstStyle/>
          <a:p>
            <a:pPr marL="342900" lvl="0" indent="-342900">
              <a:lnSpc>
                <a:spcPct val="300000"/>
              </a:lnSpc>
              <a:buFont typeface="Arial" panose="020B0604020202020204" pitchFamily="34" charset="0"/>
              <a:buChar char="•"/>
            </a:pPr>
            <a:r>
              <a:rPr lang="en-IN" sz="2400" dirty="0"/>
              <a:t>Data Overview</a:t>
            </a:r>
            <a:endParaRPr lang="en-US" sz="2400" dirty="0"/>
          </a:p>
          <a:p>
            <a:pPr marL="342900" lvl="0" indent="-342900">
              <a:lnSpc>
                <a:spcPct val="250000"/>
              </a:lnSpc>
              <a:buFont typeface="Arial" panose="020B0604020202020204" pitchFamily="34" charset="0"/>
              <a:buChar char="•"/>
            </a:pPr>
            <a:r>
              <a:rPr lang="en-IN" sz="2400" dirty="0"/>
              <a:t>Key Metrics &amp; Insights</a:t>
            </a:r>
            <a:endParaRPr lang="en-US" sz="2400" dirty="0"/>
          </a:p>
          <a:p>
            <a:pPr marL="342900" lvl="0" indent="-342900">
              <a:lnSpc>
                <a:spcPct val="300000"/>
              </a:lnSpc>
              <a:buFont typeface="Arial" panose="020B0604020202020204" pitchFamily="34" charset="0"/>
              <a:buChar char="•"/>
            </a:pPr>
            <a:r>
              <a:rPr lang="en-IN" sz="2400" dirty="0"/>
              <a:t>Conclusion</a:t>
            </a:r>
            <a:endParaRPr lang="en-US" sz="2400" dirty="0"/>
          </a:p>
          <a:p>
            <a:pPr>
              <a:lnSpc>
                <a:spcPct val="300000"/>
              </a:lnSpc>
            </a:pPr>
            <a:endParaRPr lang="en-US" sz="2400" dirty="0"/>
          </a:p>
        </p:txBody>
      </p:sp>
    </p:spTree>
    <p:extLst>
      <p:ext uri="{BB962C8B-B14F-4D97-AF65-F5344CB8AC3E}">
        <p14:creationId xmlns:p14="http://schemas.microsoft.com/office/powerpoint/2010/main" val="39419407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xmlns="" id="{D1D34770-47A8-402C-AF23-2B653F2D88C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71FDF820-F4A7-57FD-620E-81EFDC6736A8}"/>
              </a:ext>
            </a:extLst>
          </p:cNvPr>
          <p:cNvSpPr>
            <a:spLocks noGrp="1"/>
          </p:cNvSpPr>
          <p:nvPr>
            <p:ph type="title"/>
          </p:nvPr>
        </p:nvSpPr>
        <p:spPr>
          <a:xfrm>
            <a:off x="742895" y="1509344"/>
            <a:ext cx="6002110" cy="1495425"/>
          </a:xfrm>
        </p:spPr>
        <p:txBody>
          <a:bodyPr>
            <a:normAutofit/>
          </a:bodyPr>
          <a:lstStyle/>
          <a:p>
            <a:r>
              <a:rPr lang="en-IN" sz="4000" b="1" dirty="0">
                <a:solidFill>
                  <a:schemeClr val="accent1">
                    <a:lumMod val="75000"/>
                  </a:schemeClr>
                </a:solidFill>
              </a:rPr>
              <a:t>PROBLEM STATEMENT</a:t>
            </a:r>
          </a:p>
        </p:txBody>
      </p:sp>
      <p:sp>
        <p:nvSpPr>
          <p:cNvPr id="3" name="Content Placeholder 2">
            <a:extLst>
              <a:ext uri="{FF2B5EF4-FFF2-40B4-BE49-F238E27FC236}">
                <a16:creationId xmlns:a16="http://schemas.microsoft.com/office/drawing/2014/main" xmlns="" id="{55E2A5EA-750D-0F76-923C-41667D2BEBD5}"/>
              </a:ext>
            </a:extLst>
          </p:cNvPr>
          <p:cNvSpPr>
            <a:spLocks noGrp="1"/>
          </p:cNvSpPr>
          <p:nvPr>
            <p:ph idx="1"/>
          </p:nvPr>
        </p:nvSpPr>
        <p:spPr>
          <a:xfrm>
            <a:off x="742895" y="2668304"/>
            <a:ext cx="5491650" cy="2845805"/>
          </a:xfrm>
        </p:spPr>
        <p:txBody>
          <a:bodyPr>
            <a:normAutofit fontScale="85000" lnSpcReduction="10000"/>
          </a:bodyPr>
          <a:lstStyle/>
          <a:p>
            <a:pPr marL="0" indent="0">
              <a:buNone/>
            </a:pPr>
            <a:r>
              <a:rPr lang="en-US" dirty="0">
                <a:cs typeface="Segoe UI" panose="020B0502040204020203" pitchFamily="34" charset="0"/>
              </a:rPr>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endParaRPr lang="fr-FR" dirty="0">
              <a:cs typeface="Segoe UI" panose="020B0502040204020203"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8218" y="0"/>
            <a:ext cx="4970733" cy="6858000"/>
          </a:xfrm>
          <a:prstGeom prst="rect">
            <a:avLst/>
          </a:prstGeom>
        </p:spPr>
      </p:pic>
    </p:spTree>
    <p:extLst>
      <p:ext uri="{BB962C8B-B14F-4D97-AF65-F5344CB8AC3E}">
        <p14:creationId xmlns:p14="http://schemas.microsoft.com/office/powerpoint/2010/main" val="30971404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D05825-A34C-AB55-23D8-6829EDEA7DFB}"/>
              </a:ext>
            </a:extLst>
          </p:cNvPr>
          <p:cNvSpPr>
            <a:spLocks noGrp="1"/>
          </p:cNvSpPr>
          <p:nvPr>
            <p:ph type="title"/>
          </p:nvPr>
        </p:nvSpPr>
        <p:spPr>
          <a:xfrm>
            <a:off x="555992" y="612728"/>
            <a:ext cx="10515600" cy="1120878"/>
          </a:xfrm>
        </p:spPr>
        <p:txBody>
          <a:bodyPr>
            <a:normAutofit fontScale="90000"/>
          </a:bodyPr>
          <a:lstStyle/>
          <a:p>
            <a:pPr algn="ctr"/>
            <a:r>
              <a:rPr lang="en-IN" sz="3600" b="1" dirty="0">
                <a:solidFill>
                  <a:schemeClr val="accent1">
                    <a:lumMod val="75000"/>
                  </a:schemeClr>
                </a:solidFill>
              </a:rPr>
              <a:t>DATA DESCRIPTION</a:t>
            </a:r>
            <a:r>
              <a:rPr lang="en-IN" sz="2400" b="1" u="sng" dirty="0">
                <a:solidFill>
                  <a:schemeClr val="accent1">
                    <a:lumMod val="75000"/>
                  </a:schemeClr>
                </a:solidFill>
                <a:effectLst>
                  <a:outerShdw blurRad="38100" dist="38100" dir="2700000" algn="tl">
                    <a:srgbClr val="000000">
                      <a:alpha val="43137"/>
                    </a:srgbClr>
                  </a:outerShdw>
                </a:effectLst>
              </a:rPr>
              <a:t/>
            </a:r>
            <a:br>
              <a:rPr lang="en-IN" sz="2400" b="1" u="sng" dirty="0">
                <a:solidFill>
                  <a:schemeClr val="accent1">
                    <a:lumMod val="75000"/>
                  </a:schemeClr>
                </a:solidFill>
                <a:effectLst>
                  <a:outerShdw blurRad="38100" dist="38100" dir="2700000" algn="tl">
                    <a:srgbClr val="000000">
                      <a:alpha val="43137"/>
                    </a:srgbClr>
                  </a:outerShdw>
                </a:effectLst>
              </a:rPr>
            </a:br>
            <a:r>
              <a:rPr lang="en-IN" sz="2400" b="1" u="sng" dirty="0">
                <a:solidFill>
                  <a:schemeClr val="accent1">
                    <a:lumMod val="75000"/>
                  </a:schemeClr>
                </a:solidFill>
                <a:effectLst>
                  <a:outerShdw blurRad="38100" dist="38100" dir="2700000" algn="tl">
                    <a:srgbClr val="000000">
                      <a:alpha val="43137"/>
                    </a:srgbClr>
                  </a:outerShdw>
                </a:effectLst>
              </a:rPr>
              <a:t/>
            </a:r>
            <a:br>
              <a:rPr lang="en-IN" sz="2400" b="1" u="sng" dirty="0">
                <a:solidFill>
                  <a:schemeClr val="accent1">
                    <a:lumMod val="75000"/>
                  </a:schemeClr>
                </a:solidFill>
                <a:effectLst>
                  <a:outerShdw blurRad="38100" dist="38100" dir="2700000" algn="tl">
                    <a:srgbClr val="000000">
                      <a:alpha val="43137"/>
                    </a:srgbClr>
                  </a:outerShdw>
                </a:effectLst>
              </a:rPr>
            </a:br>
            <a:r>
              <a:rPr lang="en-US" sz="1800" dirty="0"/>
              <a:t>The dataset contains information about 7 tables.</a:t>
            </a:r>
            <a:endParaRPr lang="en-IN" sz="1800" dirty="0"/>
          </a:p>
        </p:txBody>
      </p:sp>
      <p:sp>
        <p:nvSpPr>
          <p:cNvPr id="3" name="Content Placeholder 2">
            <a:extLst>
              <a:ext uri="{FF2B5EF4-FFF2-40B4-BE49-F238E27FC236}">
                <a16:creationId xmlns:a16="http://schemas.microsoft.com/office/drawing/2014/main" xmlns="" id="{8C9280C0-934E-5D81-49FF-BB7F200A720A}"/>
              </a:ext>
            </a:extLst>
          </p:cNvPr>
          <p:cNvSpPr>
            <a:spLocks noGrp="1"/>
          </p:cNvSpPr>
          <p:nvPr>
            <p:ph sz="half" idx="1"/>
          </p:nvPr>
        </p:nvSpPr>
        <p:spPr>
          <a:xfrm>
            <a:off x="3882892" y="2133223"/>
            <a:ext cx="3861800" cy="3020668"/>
          </a:xfrm>
        </p:spPr>
        <p:txBody>
          <a:bodyPr>
            <a:normAutofit/>
          </a:bodyPr>
          <a:lstStyle/>
          <a:p>
            <a:pPr>
              <a:buFont typeface="Wingdings" panose="05000000000000000000" pitchFamily="2" charset="2"/>
              <a:buChar char="§"/>
            </a:pPr>
            <a:r>
              <a:rPr lang="en-US" sz="2000" b="1" dirty="0"/>
              <a:t>Users</a:t>
            </a:r>
            <a:r>
              <a:rPr lang="en-US" sz="2000" dirty="0"/>
              <a:t> </a:t>
            </a:r>
            <a:r>
              <a:rPr lang="en-IN" sz="2000" dirty="0"/>
              <a:t>: </a:t>
            </a:r>
            <a:r>
              <a:rPr lang="en-US" sz="2000" dirty="0"/>
              <a:t>registered user data</a:t>
            </a:r>
          </a:p>
          <a:p>
            <a:pPr>
              <a:buFont typeface="Wingdings" panose="05000000000000000000" pitchFamily="2" charset="2"/>
              <a:buChar char="§"/>
            </a:pPr>
            <a:r>
              <a:rPr lang="en-US" sz="2000" b="1" dirty="0"/>
              <a:t>Photos </a:t>
            </a:r>
            <a:r>
              <a:rPr lang="en-IN" sz="2000" dirty="0"/>
              <a:t>: </a:t>
            </a:r>
            <a:r>
              <a:rPr lang="en-US" sz="2000" dirty="0"/>
              <a:t>uploaded content</a:t>
            </a:r>
          </a:p>
          <a:p>
            <a:pPr>
              <a:buFont typeface="Wingdings" panose="05000000000000000000" pitchFamily="2" charset="2"/>
              <a:buChar char="§"/>
            </a:pPr>
            <a:r>
              <a:rPr lang="en-IN" sz="2000" b="1" dirty="0"/>
              <a:t>Comments</a:t>
            </a:r>
            <a:r>
              <a:rPr lang="en-IN" sz="2000" dirty="0"/>
              <a:t>: </a:t>
            </a:r>
            <a:r>
              <a:rPr lang="en-US" sz="2000" dirty="0"/>
              <a:t>user interactions</a:t>
            </a:r>
          </a:p>
          <a:p>
            <a:pPr>
              <a:buFont typeface="Wingdings" panose="05000000000000000000" pitchFamily="2" charset="2"/>
              <a:buChar char="§"/>
            </a:pPr>
            <a:r>
              <a:rPr lang="en-IN" sz="2000" b="1" dirty="0"/>
              <a:t>Likes : </a:t>
            </a:r>
            <a:r>
              <a:rPr lang="en-US" sz="2000" dirty="0"/>
              <a:t>engagement actions</a:t>
            </a:r>
          </a:p>
          <a:p>
            <a:pPr>
              <a:buFont typeface="Wingdings" panose="05000000000000000000" pitchFamily="2" charset="2"/>
              <a:buChar char="§"/>
            </a:pPr>
            <a:r>
              <a:rPr lang="en-IN" sz="2000" b="1" dirty="0"/>
              <a:t>Follows : </a:t>
            </a:r>
            <a:r>
              <a:rPr lang="en-US" sz="2000" dirty="0"/>
              <a:t>network relationships</a:t>
            </a:r>
          </a:p>
          <a:p>
            <a:pPr>
              <a:buFont typeface="Wingdings" panose="05000000000000000000" pitchFamily="2" charset="2"/>
              <a:buChar char="§"/>
            </a:pPr>
            <a:r>
              <a:rPr lang="en-IN" sz="2000" b="1" dirty="0"/>
              <a:t>Tags : </a:t>
            </a:r>
            <a:r>
              <a:rPr lang="en-US" sz="2000" dirty="0"/>
              <a:t>content categories</a:t>
            </a:r>
            <a:endParaRPr lang="en-IN" sz="2000" b="1" u="sng" dirty="0"/>
          </a:p>
          <a:p>
            <a:pPr>
              <a:buFont typeface="Wingdings" panose="05000000000000000000" pitchFamily="2" charset="2"/>
              <a:buChar char="§"/>
            </a:pPr>
            <a:r>
              <a:rPr lang="en-US" sz="2000" b="1" dirty="0"/>
              <a:t>Photo_Tags</a:t>
            </a:r>
            <a:r>
              <a:rPr lang="en-IN" sz="2000" b="1" dirty="0"/>
              <a:t> : </a:t>
            </a:r>
            <a:r>
              <a:rPr lang="en-US" sz="2000" dirty="0"/>
              <a:t>tag mapping</a:t>
            </a:r>
          </a:p>
          <a:p>
            <a:pPr>
              <a:buFont typeface="Wingdings" panose="05000000000000000000" pitchFamily="2" charset="2"/>
              <a:buChar char="§"/>
            </a:pPr>
            <a:endParaRPr lang="en-IN" sz="2000" dirty="0"/>
          </a:p>
          <a:p>
            <a:endParaRPr lang="en-IN" sz="2000" dirty="0"/>
          </a:p>
        </p:txBody>
      </p:sp>
    </p:spTree>
    <p:extLst>
      <p:ext uri="{BB962C8B-B14F-4D97-AF65-F5344CB8AC3E}">
        <p14:creationId xmlns:p14="http://schemas.microsoft.com/office/powerpoint/2010/main" val="2470058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8142" y="463376"/>
            <a:ext cx="9404723" cy="1400530"/>
          </a:xfrm>
        </p:spPr>
        <p:txBody>
          <a:bodyPr/>
          <a:lstStyle/>
          <a:p>
            <a:pPr algn="ctr"/>
            <a:r>
              <a:rPr lang="en-US" sz="4000" b="1" dirty="0">
                <a:solidFill>
                  <a:schemeClr val="accent1">
                    <a:lumMod val="75000"/>
                  </a:schemeClr>
                </a:solidFill>
              </a:rPr>
              <a:t>KEY FIELDS</a:t>
            </a:r>
          </a:p>
        </p:txBody>
      </p:sp>
      <p:sp>
        <p:nvSpPr>
          <p:cNvPr id="3" name="Content Placeholder 2"/>
          <p:cNvSpPr>
            <a:spLocks noGrp="1"/>
          </p:cNvSpPr>
          <p:nvPr>
            <p:ph sz="half" idx="1"/>
          </p:nvPr>
        </p:nvSpPr>
        <p:spPr>
          <a:xfrm>
            <a:off x="604549" y="1762378"/>
            <a:ext cx="5491451" cy="4113089"/>
          </a:xfrm>
        </p:spPr>
        <p:txBody>
          <a:bodyPr>
            <a:normAutofit/>
          </a:bodyPr>
          <a:lstStyle/>
          <a:p>
            <a:pPr fontAlgn="base">
              <a:buFont typeface="Arial" panose="020B0604020202020204" pitchFamily="34" charset="0"/>
              <a:buChar char="•"/>
            </a:pPr>
            <a:r>
              <a:rPr lang="en-US" sz="2000" b="1" dirty="0">
                <a:solidFill>
                  <a:srgbClr val="000000"/>
                </a:solidFill>
              </a:rPr>
              <a:t>comments_id </a:t>
            </a:r>
            <a:r>
              <a:rPr lang="en-US" sz="2000" dirty="0">
                <a:solidFill>
                  <a:srgbClr val="000000"/>
                </a:solidFill>
              </a:rPr>
              <a:t>: unique identifier for each comment</a:t>
            </a:r>
          </a:p>
          <a:p>
            <a:pPr fontAlgn="base">
              <a:buFont typeface="Arial" panose="020B0604020202020204" pitchFamily="34" charset="0"/>
              <a:buChar char="•"/>
            </a:pPr>
            <a:r>
              <a:rPr lang="en-US" sz="2000" b="1" dirty="0">
                <a:solidFill>
                  <a:srgbClr val="000000"/>
                </a:solidFill>
              </a:rPr>
              <a:t>comment_text </a:t>
            </a:r>
            <a:r>
              <a:rPr lang="en-US" sz="2000" dirty="0">
                <a:solidFill>
                  <a:srgbClr val="000000"/>
                </a:solidFill>
              </a:rPr>
              <a:t>: text content of a given comment</a:t>
            </a:r>
          </a:p>
          <a:p>
            <a:pPr fontAlgn="base">
              <a:buFont typeface="Arial" panose="020B0604020202020204" pitchFamily="34" charset="0"/>
              <a:buChar char="•"/>
            </a:pPr>
            <a:r>
              <a:rPr lang="en-US" sz="2000" b="1" dirty="0">
                <a:solidFill>
                  <a:srgbClr val="000000"/>
                </a:solidFill>
              </a:rPr>
              <a:t>user_id </a:t>
            </a:r>
            <a:r>
              <a:rPr lang="en-US" sz="2000" dirty="0">
                <a:solidFill>
                  <a:srgbClr val="000000"/>
                </a:solidFill>
              </a:rPr>
              <a:t>: unique identifier for each user</a:t>
            </a:r>
          </a:p>
          <a:p>
            <a:pPr fontAlgn="base">
              <a:buFont typeface="Arial" panose="020B0604020202020204" pitchFamily="34" charset="0"/>
              <a:buChar char="•"/>
            </a:pPr>
            <a:r>
              <a:rPr lang="en-US" sz="2000" b="1" dirty="0">
                <a:solidFill>
                  <a:srgbClr val="000000"/>
                </a:solidFill>
              </a:rPr>
              <a:t>photo_id </a:t>
            </a:r>
            <a:r>
              <a:rPr lang="en-US" sz="2000" dirty="0">
                <a:solidFill>
                  <a:srgbClr val="000000"/>
                </a:solidFill>
              </a:rPr>
              <a:t>: unique identifier for each photo</a:t>
            </a:r>
          </a:p>
          <a:p>
            <a:pPr fontAlgn="base">
              <a:buFont typeface="Arial" panose="020B0604020202020204" pitchFamily="34" charset="0"/>
              <a:buChar char="•"/>
            </a:pPr>
            <a:r>
              <a:rPr lang="en-US" sz="2000" b="1" dirty="0">
                <a:solidFill>
                  <a:srgbClr val="000000"/>
                </a:solidFill>
              </a:rPr>
              <a:t>created_at </a:t>
            </a:r>
            <a:r>
              <a:rPr lang="en-US" sz="2000" dirty="0">
                <a:solidFill>
                  <a:srgbClr val="000000"/>
                </a:solidFill>
              </a:rPr>
              <a:t>: date of interaction </a:t>
            </a:r>
            <a:r>
              <a:rPr lang="en-US" sz="2000" dirty="0"/>
              <a:t>in the form of likes, photos, and tags</a:t>
            </a:r>
            <a:endParaRPr lang="en-US" sz="2000" dirty="0">
              <a:solidFill>
                <a:srgbClr val="000000"/>
              </a:solidFill>
            </a:endParaRPr>
          </a:p>
        </p:txBody>
      </p:sp>
      <p:sp>
        <p:nvSpPr>
          <p:cNvPr id="5" name="Content Placeholder 2"/>
          <p:cNvSpPr>
            <a:spLocks noGrp="1"/>
          </p:cNvSpPr>
          <p:nvPr>
            <p:ph sz="half" idx="2"/>
          </p:nvPr>
        </p:nvSpPr>
        <p:spPr>
          <a:xfrm>
            <a:off x="6336856" y="1762377"/>
            <a:ext cx="5541817" cy="4113089"/>
          </a:xfrm>
        </p:spPr>
        <p:txBody>
          <a:bodyPr>
            <a:normAutofit/>
          </a:bodyPr>
          <a:lstStyle/>
          <a:p>
            <a:pPr fontAlgn="base">
              <a:buFont typeface="Arial" panose="020B0604020202020204" pitchFamily="34" charset="0"/>
              <a:buChar char="•"/>
            </a:pPr>
            <a:r>
              <a:rPr lang="en-US" sz="2000" b="1" dirty="0">
                <a:solidFill>
                  <a:srgbClr val="000000"/>
                </a:solidFill>
              </a:rPr>
              <a:t>follower_id </a:t>
            </a:r>
            <a:r>
              <a:rPr lang="en-US" sz="2000" dirty="0">
                <a:solidFill>
                  <a:srgbClr val="000000"/>
                </a:solidFill>
              </a:rPr>
              <a:t>: user_id of the follower for a certain user</a:t>
            </a:r>
          </a:p>
          <a:p>
            <a:pPr fontAlgn="base">
              <a:buFont typeface="Arial" panose="020B0604020202020204" pitchFamily="34" charset="0"/>
              <a:buChar char="•"/>
            </a:pPr>
            <a:r>
              <a:rPr lang="en-US" sz="2000" b="1" dirty="0">
                <a:solidFill>
                  <a:srgbClr val="000000"/>
                </a:solidFill>
              </a:rPr>
              <a:t>followee_id : </a:t>
            </a:r>
            <a:r>
              <a:rPr lang="en-US" sz="2000" dirty="0">
                <a:solidFill>
                  <a:srgbClr val="000000"/>
                </a:solidFill>
              </a:rPr>
              <a:t>user_id of followee for a certain user</a:t>
            </a:r>
          </a:p>
          <a:p>
            <a:pPr fontAlgn="base">
              <a:buFont typeface="Arial" panose="020B0604020202020204" pitchFamily="34" charset="0"/>
              <a:buChar char="•"/>
            </a:pPr>
            <a:r>
              <a:rPr lang="en-US" sz="2000" b="1" dirty="0">
                <a:solidFill>
                  <a:srgbClr val="000000"/>
                </a:solidFill>
              </a:rPr>
              <a:t>tag_id : </a:t>
            </a:r>
            <a:r>
              <a:rPr lang="en-US" sz="2000" dirty="0">
                <a:solidFill>
                  <a:srgbClr val="000000"/>
                </a:solidFill>
              </a:rPr>
              <a:t>unique identifier for each tag</a:t>
            </a:r>
          </a:p>
          <a:p>
            <a:pPr fontAlgn="base">
              <a:buFont typeface="Arial" panose="020B0604020202020204" pitchFamily="34" charset="0"/>
              <a:buChar char="•"/>
            </a:pPr>
            <a:r>
              <a:rPr lang="en-US" sz="2000" b="1" dirty="0">
                <a:solidFill>
                  <a:srgbClr val="000000"/>
                </a:solidFill>
              </a:rPr>
              <a:t>image_url : </a:t>
            </a:r>
            <a:r>
              <a:rPr lang="en-US" sz="2000" dirty="0">
                <a:solidFill>
                  <a:srgbClr val="000000"/>
                </a:solidFill>
              </a:rPr>
              <a:t>link to the image posted on the platform</a:t>
            </a:r>
          </a:p>
          <a:p>
            <a:pPr fontAlgn="base">
              <a:spcAft>
                <a:spcPts val="1200"/>
              </a:spcAft>
              <a:buFont typeface="Arial" panose="020B0604020202020204" pitchFamily="34" charset="0"/>
              <a:buChar char="•"/>
            </a:pPr>
            <a:r>
              <a:rPr lang="en-US" sz="2000" b="1" dirty="0">
                <a:solidFill>
                  <a:srgbClr val="000000"/>
                </a:solidFill>
              </a:rPr>
              <a:t>username :</a:t>
            </a:r>
            <a:r>
              <a:rPr lang="en-US" sz="2000" dirty="0">
                <a:solidFill>
                  <a:srgbClr val="000000"/>
                </a:solidFill>
              </a:rPr>
              <a:t> username chosen by the user</a:t>
            </a:r>
          </a:p>
        </p:txBody>
      </p:sp>
    </p:spTree>
    <p:extLst>
      <p:ext uri="{BB962C8B-B14F-4D97-AF65-F5344CB8AC3E}">
        <p14:creationId xmlns:p14="http://schemas.microsoft.com/office/powerpoint/2010/main" val="34308688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26EA4A-8706-9A57-8139-088E32FDE0F6}"/>
              </a:ext>
            </a:extLst>
          </p:cNvPr>
          <p:cNvSpPr>
            <a:spLocks noGrp="1"/>
          </p:cNvSpPr>
          <p:nvPr>
            <p:ph type="title"/>
          </p:nvPr>
        </p:nvSpPr>
        <p:spPr>
          <a:xfrm>
            <a:off x="300342" y="187669"/>
            <a:ext cx="10515600" cy="618101"/>
          </a:xfrm>
        </p:spPr>
        <p:txBody>
          <a:bodyPr>
            <a:normAutofit/>
          </a:bodyPr>
          <a:lstStyle/>
          <a:p>
            <a:pPr algn="ctr"/>
            <a:r>
              <a:rPr lang="en-IN" sz="2600" b="1" dirty="0">
                <a:solidFill>
                  <a:schemeClr val="tx2">
                    <a:lumMod val="90000"/>
                    <a:lumOff val="10000"/>
                  </a:schemeClr>
                </a:solidFill>
              </a:rPr>
              <a:t>   </a:t>
            </a:r>
            <a:r>
              <a:rPr lang="en-IN" sz="3200" b="1" dirty="0">
                <a:solidFill>
                  <a:schemeClr val="tx2">
                    <a:lumMod val="90000"/>
                    <a:lumOff val="10000"/>
                  </a:schemeClr>
                </a:solidFill>
              </a:rPr>
              <a:t>DATABASE SCHEMA</a:t>
            </a:r>
          </a:p>
        </p:txBody>
      </p:sp>
      <p:pic>
        <p:nvPicPr>
          <p:cNvPr id="9" name="Picture 8"/>
          <p:cNvPicPr>
            <a:picLocks noChangeAspect="1"/>
          </p:cNvPicPr>
          <p:nvPr/>
        </p:nvPicPr>
        <p:blipFill>
          <a:blip r:embed="rId3"/>
          <a:stretch>
            <a:fillRect/>
          </a:stretch>
        </p:blipFill>
        <p:spPr>
          <a:xfrm>
            <a:off x="2426677" y="833479"/>
            <a:ext cx="7338646" cy="5836852"/>
          </a:xfrm>
          <a:prstGeom prst="rect">
            <a:avLst/>
          </a:prstGeom>
          <a:ln>
            <a:solidFill>
              <a:schemeClr val="tx2">
                <a:lumMod val="60000"/>
                <a:lumOff val="40000"/>
              </a:schemeClr>
            </a:solidFill>
          </a:ln>
        </p:spPr>
      </p:pic>
    </p:spTree>
    <p:extLst>
      <p:ext uri="{BB962C8B-B14F-4D97-AF65-F5344CB8AC3E}">
        <p14:creationId xmlns:p14="http://schemas.microsoft.com/office/powerpoint/2010/main" val="36116323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5DA11E-A7F2-0489-09F8-072E7BB74AE0}"/>
              </a:ext>
            </a:extLst>
          </p:cNvPr>
          <p:cNvSpPr>
            <a:spLocks noGrp="1"/>
          </p:cNvSpPr>
          <p:nvPr>
            <p:ph type="title"/>
          </p:nvPr>
        </p:nvSpPr>
        <p:spPr>
          <a:xfrm>
            <a:off x="845128" y="839928"/>
            <a:ext cx="8195576" cy="500114"/>
          </a:xfrm>
        </p:spPr>
        <p:txBody>
          <a:bodyPr>
            <a:normAutofit fontScale="90000"/>
          </a:bodyPr>
          <a:lstStyle/>
          <a:p>
            <a:pPr algn="ctr"/>
            <a:r>
              <a:rPr lang="en-IN" sz="3200" b="1" dirty="0">
                <a:solidFill>
                  <a:schemeClr val="accent1">
                    <a:lumMod val="75000"/>
                  </a:schemeClr>
                </a:solidFill>
              </a:rPr>
              <a:t>User Activity Distribution</a:t>
            </a:r>
          </a:p>
        </p:txBody>
      </p:sp>
      <p:sp>
        <p:nvSpPr>
          <p:cNvPr id="8" name="TextBox 7">
            <a:extLst>
              <a:ext uri="{FF2B5EF4-FFF2-40B4-BE49-F238E27FC236}">
                <a16:creationId xmlns:a16="http://schemas.microsoft.com/office/drawing/2014/main" xmlns="" id="{814A3B19-5830-46F9-D3A5-3C17BFD1BE85}"/>
              </a:ext>
            </a:extLst>
          </p:cNvPr>
          <p:cNvSpPr txBox="1"/>
          <p:nvPr/>
        </p:nvSpPr>
        <p:spPr>
          <a:xfrm>
            <a:off x="845128" y="1891665"/>
            <a:ext cx="5357446" cy="3693319"/>
          </a:xfrm>
          <a:prstGeom prst="rect">
            <a:avLst/>
          </a:prstGeom>
          <a:noFill/>
          <a:ln>
            <a:noFill/>
          </a:ln>
        </p:spPr>
        <p:txBody>
          <a:bodyPr wrap="square" rtlCol="0">
            <a:spAutoFit/>
          </a:bodyPr>
          <a:lstStyle/>
          <a:p>
            <a:pPr marL="285750" indent="-285750">
              <a:buFont typeface="Arial" panose="020B0604020202020204" pitchFamily="34" charset="0"/>
              <a:buChar char="•"/>
            </a:pPr>
            <a:r>
              <a:rPr lang="en-US" dirty="0"/>
              <a:t>74% of users are active, indicating strong overall platform participation.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26% of users are inactive, representing a significant retention gap.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 quarter of the user base is not contributing to engagement or content creation.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Reactivating even a portion of inactive users could significantly boost platform interaction levels.</a:t>
            </a:r>
            <a:endParaRPr lang="en-IN" dirty="0"/>
          </a:p>
        </p:txBody>
      </p:sp>
      <p:sp>
        <p:nvSpPr>
          <p:cNvPr id="9" name="Rectangle 8">
            <a:extLst>
              <a:ext uri="{FF2B5EF4-FFF2-40B4-BE49-F238E27FC236}">
                <a16:creationId xmlns:a16="http://schemas.microsoft.com/office/drawing/2014/main" xmlns="" id="{B98BF74D-0B55-03B8-1465-6D65344FF3D5}"/>
              </a:ext>
            </a:extLst>
          </p:cNvPr>
          <p:cNvSpPr/>
          <p:nvPr/>
        </p:nvSpPr>
        <p:spPr>
          <a:xfrm>
            <a:off x="7514492" y="1963615"/>
            <a:ext cx="3481754" cy="315936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1" name="Chart 10">
            <a:extLst>
              <a:ext uri="{FF2B5EF4-FFF2-40B4-BE49-F238E27FC236}">
                <a16:creationId xmlns:a16="http://schemas.microsoft.com/office/drawing/2014/main" xmlns="" id="{1E893FB1-8D72-61EE-7D4A-CCBCDC1649EB}"/>
              </a:ext>
            </a:extLst>
          </p:cNvPr>
          <p:cNvGraphicFramePr>
            <a:graphicFrameLocks/>
          </p:cNvGraphicFramePr>
          <p:nvPr>
            <p:extLst>
              <p:ext uri="{D42A27DB-BD31-4B8C-83A1-F6EECF244321}">
                <p14:modId xmlns:p14="http://schemas.microsoft.com/office/powerpoint/2010/main" val="3279807489"/>
              </p:ext>
            </p:extLst>
          </p:nvPr>
        </p:nvGraphicFramePr>
        <p:xfrm>
          <a:off x="6969369" y="2171700"/>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xmlns="" id="{F27C3077-C1A4-5C72-1DFF-0A65BEEDBE3E}"/>
              </a:ext>
            </a:extLst>
          </p:cNvPr>
          <p:cNvSpPr txBox="1"/>
          <p:nvPr/>
        </p:nvSpPr>
        <p:spPr>
          <a:xfrm>
            <a:off x="6600092" y="5331068"/>
            <a:ext cx="5357447" cy="253916"/>
          </a:xfrm>
          <a:prstGeom prst="rect">
            <a:avLst/>
          </a:prstGeom>
          <a:noFill/>
        </p:spPr>
        <p:txBody>
          <a:bodyPr wrap="square" rtlCol="0">
            <a:spAutoFit/>
          </a:bodyPr>
          <a:lstStyle/>
          <a:p>
            <a:r>
              <a:rPr lang="en-US" sz="1050" dirty="0"/>
              <a:t>Inactivity represents the largest immediate opportunity for engagement growth.</a:t>
            </a:r>
            <a:endParaRPr lang="en-IN" sz="1050" dirty="0"/>
          </a:p>
        </p:txBody>
      </p:sp>
    </p:spTree>
    <p:extLst>
      <p:ext uri="{BB962C8B-B14F-4D97-AF65-F5344CB8AC3E}">
        <p14:creationId xmlns:p14="http://schemas.microsoft.com/office/powerpoint/2010/main" val="38035324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E4680BD-A791-2C0C-D0C3-E42D0743ED70}"/>
              </a:ext>
            </a:extLst>
          </p:cNvPr>
          <p:cNvSpPr>
            <a:spLocks noGrp="1"/>
          </p:cNvSpPr>
          <p:nvPr>
            <p:ph type="title"/>
          </p:nvPr>
        </p:nvSpPr>
        <p:spPr>
          <a:xfrm>
            <a:off x="2972440" y="771898"/>
            <a:ext cx="8049580" cy="509647"/>
          </a:xfrm>
        </p:spPr>
        <p:txBody>
          <a:bodyPr>
            <a:noAutofit/>
          </a:bodyPr>
          <a:lstStyle/>
          <a:p>
            <a:r>
              <a:rPr lang="en-IN" sz="2900" b="1" dirty="0">
                <a:solidFill>
                  <a:schemeClr val="accent1">
                    <a:lumMod val="75000"/>
                  </a:schemeClr>
                </a:solidFill>
              </a:rPr>
              <a:t>Engagement Concentration</a:t>
            </a:r>
          </a:p>
        </p:txBody>
      </p:sp>
      <p:sp>
        <p:nvSpPr>
          <p:cNvPr id="6" name="Rectangle 5">
            <a:extLst>
              <a:ext uri="{FF2B5EF4-FFF2-40B4-BE49-F238E27FC236}">
                <a16:creationId xmlns:a16="http://schemas.microsoft.com/office/drawing/2014/main" xmlns="" id="{D008EEBE-0FF8-C952-3756-CA691F8C2511}"/>
              </a:ext>
            </a:extLst>
          </p:cNvPr>
          <p:cNvSpPr/>
          <p:nvPr/>
        </p:nvSpPr>
        <p:spPr>
          <a:xfrm>
            <a:off x="6494585" y="1720361"/>
            <a:ext cx="4911969"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xmlns="" id="{0F395D14-1D4F-342D-4F99-C8AED9A38133}"/>
              </a:ext>
            </a:extLst>
          </p:cNvPr>
          <p:cNvGraphicFramePr>
            <a:graphicFrameLocks/>
          </p:cNvGraphicFramePr>
          <p:nvPr>
            <p:extLst>
              <p:ext uri="{D42A27DB-BD31-4B8C-83A1-F6EECF244321}">
                <p14:modId xmlns:p14="http://schemas.microsoft.com/office/powerpoint/2010/main" val="825369868"/>
              </p:ext>
            </p:extLst>
          </p:nvPr>
        </p:nvGraphicFramePr>
        <p:xfrm>
          <a:off x="6664569" y="1720361"/>
          <a:ext cx="4572000" cy="3417277"/>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xmlns="" id="{668A6CCF-596D-8066-8BB1-2F48EAA9BBF6}"/>
              </a:ext>
            </a:extLst>
          </p:cNvPr>
          <p:cNvSpPr txBox="1"/>
          <p:nvPr/>
        </p:nvSpPr>
        <p:spPr>
          <a:xfrm>
            <a:off x="785446" y="1859338"/>
            <a:ext cx="5087816" cy="3139321"/>
          </a:xfrm>
          <a:prstGeom prst="rect">
            <a:avLst/>
          </a:prstGeom>
          <a:noFill/>
        </p:spPr>
        <p:txBody>
          <a:bodyPr wrap="square" rtlCol="0">
            <a:spAutoFit/>
          </a:bodyPr>
          <a:lstStyle/>
          <a:p>
            <a:pPr marL="342900" indent="-342900">
              <a:buFont typeface="Arial" panose="020B0604020202020204" pitchFamily="34" charset="0"/>
              <a:buChar char="•"/>
            </a:pPr>
            <a:r>
              <a:rPr lang="en-US" dirty="0"/>
              <a:t>Engagement is highly concentrated among a small group of users.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Top 10 users generate over 200 interactions each.</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Highest performer reaches 405 total engagements.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 small percentage of creators drive majority platform interaction.</a:t>
            </a:r>
            <a:endParaRPr lang="en-IN" dirty="0"/>
          </a:p>
        </p:txBody>
      </p:sp>
      <p:sp>
        <p:nvSpPr>
          <p:cNvPr id="12" name="TextBox 11">
            <a:extLst>
              <a:ext uri="{FF2B5EF4-FFF2-40B4-BE49-F238E27FC236}">
                <a16:creationId xmlns:a16="http://schemas.microsoft.com/office/drawing/2014/main" xmlns="" id="{C571EE87-04A9-78A8-DA11-395C27E174FC}"/>
              </a:ext>
            </a:extLst>
          </p:cNvPr>
          <p:cNvSpPr txBox="1"/>
          <p:nvPr/>
        </p:nvSpPr>
        <p:spPr>
          <a:xfrm>
            <a:off x="6405021" y="5260967"/>
            <a:ext cx="5265611" cy="253916"/>
          </a:xfrm>
          <a:prstGeom prst="rect">
            <a:avLst/>
          </a:prstGeom>
          <a:noFill/>
        </p:spPr>
        <p:txBody>
          <a:bodyPr wrap="square" rtlCol="0">
            <a:spAutoFit/>
          </a:bodyPr>
          <a:lstStyle/>
          <a:p>
            <a:r>
              <a:rPr lang="en-US" sz="1050" dirty="0"/>
              <a:t>Platform engagement follows a power-law distribution driven by top creators.</a:t>
            </a:r>
            <a:endParaRPr lang="en-IN" sz="1050" dirty="0"/>
          </a:p>
        </p:txBody>
      </p:sp>
    </p:spTree>
    <p:extLst>
      <p:ext uri="{BB962C8B-B14F-4D97-AF65-F5344CB8AC3E}">
        <p14:creationId xmlns:p14="http://schemas.microsoft.com/office/powerpoint/2010/main" val="32678363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5E7D89-5A1C-97AC-1F1C-EE94229C1EF0}"/>
              </a:ext>
            </a:extLst>
          </p:cNvPr>
          <p:cNvSpPr>
            <a:spLocks noGrp="1"/>
          </p:cNvSpPr>
          <p:nvPr>
            <p:ph type="title"/>
          </p:nvPr>
        </p:nvSpPr>
        <p:spPr>
          <a:xfrm>
            <a:off x="3024936" y="1178631"/>
            <a:ext cx="8377999" cy="541730"/>
          </a:xfrm>
        </p:spPr>
        <p:txBody>
          <a:bodyPr>
            <a:noAutofit/>
          </a:bodyPr>
          <a:lstStyle/>
          <a:p>
            <a:r>
              <a:rPr lang="en-IN" sz="2900" b="1" dirty="0">
                <a:solidFill>
                  <a:schemeClr val="accent1">
                    <a:lumMod val="75000"/>
                  </a:schemeClr>
                </a:solidFill>
              </a:rPr>
              <a:t>Hashtag &amp; Content Insight</a:t>
            </a:r>
            <a:r>
              <a:rPr lang="en-IN" sz="2900" b="1" u="sng" dirty="0"/>
              <a:t/>
            </a:r>
            <a:br>
              <a:rPr lang="en-IN" sz="2900" b="1" u="sng" dirty="0"/>
            </a:br>
            <a:r>
              <a:rPr lang="en-IN" sz="2900" b="1" dirty="0"/>
              <a:t/>
            </a:r>
            <a:br>
              <a:rPr lang="en-IN" sz="2900" b="1" dirty="0"/>
            </a:br>
            <a:endParaRPr lang="en-IN" sz="2900" b="1" u="sng" dirty="0"/>
          </a:p>
        </p:txBody>
      </p:sp>
      <p:sp>
        <p:nvSpPr>
          <p:cNvPr id="8" name="Rectangle 7">
            <a:extLst>
              <a:ext uri="{FF2B5EF4-FFF2-40B4-BE49-F238E27FC236}">
                <a16:creationId xmlns:a16="http://schemas.microsoft.com/office/drawing/2014/main" xmlns="" id="{18A4184D-32EE-B92A-2D1A-11F84571D03F}"/>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Chart 8">
            <a:extLst>
              <a:ext uri="{FF2B5EF4-FFF2-40B4-BE49-F238E27FC236}">
                <a16:creationId xmlns:a16="http://schemas.microsoft.com/office/drawing/2014/main" xmlns="" id="{980FC81C-18D5-F4B4-9B14-789DF2B15133}"/>
              </a:ext>
            </a:extLst>
          </p:cNvPr>
          <p:cNvGraphicFramePr>
            <a:graphicFrameLocks/>
          </p:cNvGraphicFramePr>
          <p:nvPr>
            <p:extLst>
              <p:ext uri="{D42A27DB-BD31-4B8C-83A1-F6EECF244321}">
                <p14:modId xmlns:p14="http://schemas.microsoft.com/office/powerpoint/2010/main" val="784775539"/>
              </p:ext>
            </p:extLst>
          </p:nvPr>
        </p:nvGraphicFramePr>
        <p:xfrm>
          <a:off x="6494584" y="1985210"/>
          <a:ext cx="5102315" cy="2887578"/>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xmlns="" id="{A1655B00-2AF5-6E0F-2D9A-8123CE75BD15}"/>
              </a:ext>
            </a:extLst>
          </p:cNvPr>
          <p:cNvSpPr txBox="1"/>
          <p:nvPr/>
        </p:nvSpPr>
        <p:spPr>
          <a:xfrm>
            <a:off x="6494584" y="5275529"/>
            <a:ext cx="5265611" cy="253916"/>
          </a:xfrm>
          <a:prstGeom prst="rect">
            <a:avLst/>
          </a:prstGeom>
          <a:noFill/>
        </p:spPr>
        <p:txBody>
          <a:bodyPr wrap="square" rtlCol="0">
            <a:spAutoFit/>
          </a:bodyPr>
          <a:lstStyle/>
          <a:p>
            <a:r>
              <a:rPr lang="en-US" sz="1050" dirty="0"/>
              <a:t>Emotion-driven and lifestyle-focused content drives the highest engagement.</a:t>
            </a:r>
            <a:endParaRPr lang="en-IN" sz="1050" dirty="0"/>
          </a:p>
        </p:txBody>
      </p:sp>
      <p:sp>
        <p:nvSpPr>
          <p:cNvPr id="11" name="TextBox 10">
            <a:extLst>
              <a:ext uri="{FF2B5EF4-FFF2-40B4-BE49-F238E27FC236}">
                <a16:creationId xmlns:a16="http://schemas.microsoft.com/office/drawing/2014/main" xmlns="" id="{D2D8C6D4-C27E-989C-F7B8-6637D770FC59}"/>
              </a:ext>
            </a:extLst>
          </p:cNvPr>
          <p:cNvSpPr txBox="1"/>
          <p:nvPr/>
        </p:nvSpPr>
        <p:spPr>
          <a:xfrm>
            <a:off x="854242" y="1859338"/>
            <a:ext cx="4843174"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is strongly driven by lifestyle and emotion-based hashtags.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is strongly driven by lifestyle and emotion-based hashtags.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“Smile” generates the highest engagement (1802 interactions).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a:t>Content themes significantly influence interaction levels.</a:t>
            </a:r>
          </a:p>
        </p:txBody>
      </p:sp>
    </p:spTree>
    <p:extLst>
      <p:ext uri="{BB962C8B-B14F-4D97-AF65-F5344CB8AC3E}">
        <p14:creationId xmlns:p14="http://schemas.microsoft.com/office/powerpoint/2010/main" val="31216115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D9B3CD55-DC39-B45F-A15C-0D0FF4DAD78C}"/>
              </a:ext>
            </a:extLst>
          </p:cNvPr>
          <p:cNvSpPr>
            <a:spLocks noGrp="1"/>
          </p:cNvSpPr>
          <p:nvPr>
            <p:ph type="title"/>
          </p:nvPr>
        </p:nvSpPr>
        <p:spPr>
          <a:xfrm>
            <a:off x="2730487" y="670016"/>
            <a:ext cx="5540678" cy="569966"/>
          </a:xfrm>
        </p:spPr>
        <p:txBody>
          <a:bodyPr>
            <a:normAutofit/>
          </a:bodyPr>
          <a:lstStyle/>
          <a:p>
            <a:r>
              <a:rPr lang="en-IN" sz="2900" b="1" dirty="0">
                <a:solidFill>
                  <a:schemeClr val="accent1">
                    <a:lumMod val="75000"/>
                  </a:schemeClr>
                </a:solidFill>
              </a:rPr>
              <a:t>Upload vs Engagement Correlation</a:t>
            </a:r>
          </a:p>
        </p:txBody>
      </p:sp>
      <p:sp>
        <p:nvSpPr>
          <p:cNvPr id="9" name="Rectangle 8">
            <a:extLst>
              <a:ext uri="{FF2B5EF4-FFF2-40B4-BE49-F238E27FC236}">
                <a16:creationId xmlns:a16="http://schemas.microsoft.com/office/drawing/2014/main" xmlns="" id="{C0EF058B-78A6-5113-28BD-23B42E9DDF3D}"/>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10" name="Chart 9">
            <a:extLst>
              <a:ext uri="{FF2B5EF4-FFF2-40B4-BE49-F238E27FC236}">
                <a16:creationId xmlns:a16="http://schemas.microsoft.com/office/drawing/2014/main" xmlns="" id="{8A2C6CA1-DA59-4D8C-E372-37C182DD7BAE}"/>
              </a:ext>
            </a:extLst>
          </p:cNvPr>
          <p:cNvGraphicFramePr>
            <a:graphicFrameLocks/>
          </p:cNvGraphicFramePr>
          <p:nvPr>
            <p:extLst>
              <p:ext uri="{D42A27DB-BD31-4B8C-83A1-F6EECF244321}">
                <p14:modId xmlns:p14="http://schemas.microsoft.com/office/powerpoint/2010/main" val="2051175008"/>
              </p:ext>
            </p:extLst>
          </p:nvPr>
        </p:nvGraphicFramePr>
        <p:xfrm>
          <a:off x="6494584" y="1900989"/>
          <a:ext cx="5102315" cy="3236649"/>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xmlns="" id="{D40350B7-62BA-3E21-3372-A33057128F3F}"/>
              </a:ext>
            </a:extLst>
          </p:cNvPr>
          <p:cNvSpPr txBox="1"/>
          <p:nvPr/>
        </p:nvSpPr>
        <p:spPr>
          <a:xfrm>
            <a:off x="6735216" y="5258262"/>
            <a:ext cx="5265611" cy="253916"/>
          </a:xfrm>
          <a:prstGeom prst="rect">
            <a:avLst/>
          </a:prstGeom>
          <a:noFill/>
        </p:spPr>
        <p:txBody>
          <a:bodyPr wrap="square" rtlCol="0">
            <a:spAutoFit/>
          </a:bodyPr>
          <a:lstStyle/>
          <a:p>
            <a:r>
              <a:rPr lang="en-US" sz="1050" dirty="0"/>
              <a:t>Sustained content creation directly drives higher engagement levels.</a:t>
            </a:r>
            <a:endParaRPr lang="en-IN" sz="1050" dirty="0"/>
          </a:p>
        </p:txBody>
      </p:sp>
      <p:sp>
        <p:nvSpPr>
          <p:cNvPr id="12" name="TextBox 11">
            <a:extLst>
              <a:ext uri="{FF2B5EF4-FFF2-40B4-BE49-F238E27FC236}">
                <a16:creationId xmlns:a16="http://schemas.microsoft.com/office/drawing/2014/main" xmlns="" id="{10F34341-6C52-A4A6-FD1A-486B5B26AF43}"/>
              </a:ext>
            </a:extLst>
          </p:cNvPr>
          <p:cNvSpPr txBox="1"/>
          <p:nvPr/>
        </p:nvSpPr>
        <p:spPr>
          <a:xfrm>
            <a:off x="1227220" y="1859338"/>
            <a:ext cx="4470195" cy="313932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increases consistently with posting frequency.</a:t>
            </a:r>
          </a:p>
          <a:p>
            <a:pPr marL="285750" indent="-285750">
              <a:buFont typeface="Arial" panose="020B0604020202020204" pitchFamily="34" charset="0"/>
              <a:buChar char="•"/>
            </a:pPr>
            <a:r>
              <a:rPr lang="en-US" dirty="0"/>
              <a:t/>
            </a:r>
            <a:br>
              <a:rPr lang="en-US" dirty="0"/>
            </a:br>
            <a:r>
              <a:rPr lang="en-US" dirty="0"/>
              <a:t>Users with 1–2 posts average below 110 interactions.</a:t>
            </a:r>
          </a:p>
          <a:p>
            <a:pPr marL="285750" indent="-285750">
              <a:buFont typeface="Arial" panose="020B0604020202020204" pitchFamily="34" charset="0"/>
              <a:buChar char="•"/>
            </a:pPr>
            <a:r>
              <a:rPr lang="en-US" dirty="0"/>
              <a:t/>
            </a:r>
            <a:br>
              <a:rPr lang="en-US" dirty="0"/>
            </a:br>
            <a:r>
              <a:rPr lang="en-US" dirty="0"/>
              <a:t>Users with 5+ posts exceed 200 average engagements.</a:t>
            </a:r>
          </a:p>
          <a:p>
            <a:pPr marL="285750" indent="-285750">
              <a:buFont typeface="Arial" panose="020B0604020202020204" pitchFamily="34" charset="0"/>
              <a:buChar char="•"/>
            </a:pPr>
            <a:r>
              <a:rPr lang="en-US" dirty="0"/>
              <a:t/>
            </a:r>
            <a:br>
              <a:rPr lang="en-US" dirty="0"/>
            </a:br>
            <a:r>
              <a:rPr lang="en-US" dirty="0"/>
              <a:t>Consistency significantly amplifies audience interaction.</a:t>
            </a:r>
            <a:endParaRPr lang="en-IN" dirty="0"/>
          </a:p>
        </p:txBody>
      </p:sp>
    </p:spTree>
    <p:extLst>
      <p:ext uri="{BB962C8B-B14F-4D97-AF65-F5344CB8AC3E}">
        <p14:creationId xmlns:p14="http://schemas.microsoft.com/office/powerpoint/2010/main" val="5770888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C56647-E37A-C43E-093E-E72D07DB016F}"/>
              </a:ext>
            </a:extLst>
          </p:cNvPr>
          <p:cNvSpPr>
            <a:spLocks noGrp="1"/>
          </p:cNvSpPr>
          <p:nvPr>
            <p:ph type="title"/>
          </p:nvPr>
        </p:nvSpPr>
        <p:spPr>
          <a:xfrm>
            <a:off x="2750702" y="474075"/>
            <a:ext cx="8619139" cy="512253"/>
          </a:xfrm>
        </p:spPr>
        <p:txBody>
          <a:bodyPr>
            <a:noAutofit/>
          </a:bodyPr>
          <a:lstStyle/>
          <a:p>
            <a:r>
              <a:rPr lang="en-US" sz="2900" b="1" dirty="0">
                <a:solidFill>
                  <a:schemeClr val="accent1">
                    <a:lumMod val="75000"/>
                  </a:schemeClr>
                </a:solidFill>
              </a:rPr>
              <a:t>Cohort Analysis (Joining Year Insight)</a:t>
            </a:r>
            <a:endParaRPr lang="en-IN" sz="2900" b="1" dirty="0">
              <a:solidFill>
                <a:schemeClr val="accent1">
                  <a:lumMod val="75000"/>
                </a:schemeClr>
              </a:solidFill>
            </a:endParaRPr>
          </a:p>
        </p:txBody>
      </p:sp>
      <p:sp>
        <p:nvSpPr>
          <p:cNvPr id="7" name="Rectangle 6">
            <a:extLst>
              <a:ext uri="{FF2B5EF4-FFF2-40B4-BE49-F238E27FC236}">
                <a16:creationId xmlns:a16="http://schemas.microsoft.com/office/drawing/2014/main" xmlns="" id="{9441CE9A-CDA4-F15D-7952-C32D99BE95F1}"/>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Chart 7">
            <a:extLst>
              <a:ext uri="{FF2B5EF4-FFF2-40B4-BE49-F238E27FC236}">
                <a16:creationId xmlns:a16="http://schemas.microsoft.com/office/drawing/2014/main" xmlns="" id="{6B5E4E78-3B5E-5585-F385-F7DE1174B8AF}"/>
              </a:ext>
            </a:extLst>
          </p:cNvPr>
          <p:cNvGraphicFramePr>
            <a:graphicFrameLocks/>
          </p:cNvGraphicFramePr>
          <p:nvPr>
            <p:extLst>
              <p:ext uri="{D42A27DB-BD31-4B8C-83A1-F6EECF244321}">
                <p14:modId xmlns:p14="http://schemas.microsoft.com/office/powerpoint/2010/main" val="1931405143"/>
              </p:ext>
            </p:extLst>
          </p:nvPr>
        </p:nvGraphicFramePr>
        <p:xfrm>
          <a:off x="6675983" y="2045521"/>
          <a:ext cx="5102315" cy="3092117"/>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xmlns="" id="{3CBED62B-2A88-BF4F-4FAC-998E7635AA28}"/>
              </a:ext>
            </a:extLst>
          </p:cNvPr>
          <p:cNvSpPr txBox="1"/>
          <p:nvPr/>
        </p:nvSpPr>
        <p:spPr>
          <a:xfrm>
            <a:off x="898358" y="1305612"/>
            <a:ext cx="5197642" cy="5355312"/>
          </a:xfrm>
          <a:prstGeom prst="rect">
            <a:avLst/>
          </a:prstGeom>
          <a:noFill/>
        </p:spPr>
        <p:txBody>
          <a:bodyPr wrap="square" rtlCol="0">
            <a:spAutoFit/>
          </a:bodyPr>
          <a:lstStyle/>
          <a:p>
            <a:pPr marL="285750" indent="-285750">
              <a:buFont typeface="Arial" panose="020B0604020202020204" pitchFamily="34" charset="0"/>
              <a:buChar char="•"/>
            </a:pPr>
            <a:r>
              <a:rPr lang="en-US" dirty="0"/>
              <a:t>Users who joined in 2016 generate an average of 51.43 engagements per post, slightly outperforming the 2017 cohort in engagement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Users who joined in 2016 generate an average of 51.43 engagements per post, slightly outperforming the 2017 cohort in engagement efficiency.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small difference between cohorts suggests that engagement behavior remains consistent across user generations.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is no significant engagement gap between early and newer adopters, indicating stable platform experience over time.</a:t>
            </a:r>
            <a:endParaRPr lang="en-IN" dirty="0"/>
          </a:p>
        </p:txBody>
      </p:sp>
      <p:sp>
        <p:nvSpPr>
          <p:cNvPr id="10" name="TextBox 9">
            <a:extLst>
              <a:ext uri="{FF2B5EF4-FFF2-40B4-BE49-F238E27FC236}">
                <a16:creationId xmlns:a16="http://schemas.microsoft.com/office/drawing/2014/main" xmlns="" id="{78F63518-4117-388B-2061-BF9D2DD1CF9A}"/>
              </a:ext>
            </a:extLst>
          </p:cNvPr>
          <p:cNvSpPr txBox="1"/>
          <p:nvPr/>
        </p:nvSpPr>
        <p:spPr>
          <a:xfrm>
            <a:off x="6146260" y="5255049"/>
            <a:ext cx="5798964" cy="415498"/>
          </a:xfrm>
          <a:prstGeom prst="rect">
            <a:avLst/>
          </a:prstGeom>
          <a:noFill/>
        </p:spPr>
        <p:txBody>
          <a:bodyPr wrap="square" rtlCol="0">
            <a:spAutoFit/>
          </a:bodyPr>
          <a:lstStyle/>
          <a:p>
            <a:pPr algn="ctr"/>
            <a:r>
              <a:rPr lang="en-IN" sz="1050" dirty="0"/>
              <a:t>Engagement efficiency remains stable across cohorts, reflecting consistent user interaction quality.</a:t>
            </a:r>
          </a:p>
        </p:txBody>
      </p:sp>
    </p:spTree>
    <p:extLst>
      <p:ext uri="{BB962C8B-B14F-4D97-AF65-F5344CB8AC3E}">
        <p14:creationId xmlns:p14="http://schemas.microsoft.com/office/powerpoint/2010/main" val="13049220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69AD04-B9F7-0382-EFA4-690AFED41C7E}"/>
              </a:ext>
            </a:extLst>
          </p:cNvPr>
          <p:cNvSpPr>
            <a:spLocks noGrp="1"/>
          </p:cNvSpPr>
          <p:nvPr>
            <p:ph type="title"/>
          </p:nvPr>
        </p:nvSpPr>
        <p:spPr>
          <a:xfrm>
            <a:off x="3525253" y="541421"/>
            <a:ext cx="4344130" cy="608269"/>
          </a:xfrm>
        </p:spPr>
        <p:txBody>
          <a:bodyPr>
            <a:normAutofit/>
          </a:bodyPr>
          <a:lstStyle/>
          <a:p>
            <a:r>
              <a:rPr lang="en-IN" sz="2900" b="1" dirty="0">
                <a:solidFill>
                  <a:schemeClr val="accent1">
                    <a:lumMod val="75000"/>
                  </a:schemeClr>
                </a:solidFill>
              </a:rPr>
              <a:t>User Segmentation Model</a:t>
            </a:r>
          </a:p>
        </p:txBody>
      </p:sp>
      <p:sp>
        <p:nvSpPr>
          <p:cNvPr id="7" name="Rectangle 6">
            <a:extLst>
              <a:ext uri="{FF2B5EF4-FFF2-40B4-BE49-F238E27FC236}">
                <a16:creationId xmlns:a16="http://schemas.microsoft.com/office/drawing/2014/main" xmlns="" id="{FB3C3F48-7057-D1BA-961C-0997CD532F63}"/>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Chart 8">
            <a:extLst>
              <a:ext uri="{FF2B5EF4-FFF2-40B4-BE49-F238E27FC236}">
                <a16:creationId xmlns:a16="http://schemas.microsoft.com/office/drawing/2014/main" xmlns="" id="{A282FE7A-203E-6379-0053-EA5F200F373E}"/>
              </a:ext>
            </a:extLst>
          </p:cNvPr>
          <p:cNvGraphicFramePr>
            <a:graphicFrameLocks/>
          </p:cNvGraphicFramePr>
          <p:nvPr>
            <p:extLst>
              <p:ext uri="{D42A27DB-BD31-4B8C-83A1-F6EECF244321}">
                <p14:modId xmlns:p14="http://schemas.microsoft.com/office/powerpoint/2010/main" val="2580412425"/>
              </p:ext>
            </p:extLst>
          </p:nvPr>
        </p:nvGraphicFramePr>
        <p:xfrm>
          <a:off x="6494585" y="1840676"/>
          <a:ext cx="5102314" cy="3417277"/>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a:extLst>
              <a:ext uri="{FF2B5EF4-FFF2-40B4-BE49-F238E27FC236}">
                <a16:creationId xmlns:a16="http://schemas.microsoft.com/office/drawing/2014/main" xmlns="" id="{10252ADD-DEB2-4807-3617-4EB4BCF1C2C9}"/>
              </a:ext>
            </a:extLst>
          </p:cNvPr>
          <p:cNvSpPr txBox="1"/>
          <p:nvPr/>
        </p:nvSpPr>
        <p:spPr>
          <a:xfrm>
            <a:off x="1022684" y="1383632"/>
            <a:ext cx="4824663" cy="4524315"/>
          </a:xfrm>
          <a:prstGeom prst="rect">
            <a:avLst/>
          </a:prstGeom>
          <a:noFill/>
        </p:spPr>
        <p:txBody>
          <a:bodyPr wrap="square" rtlCol="0">
            <a:spAutoFit/>
          </a:bodyPr>
          <a:lstStyle/>
          <a:p>
            <a:pPr marL="285750" indent="-285750">
              <a:buFont typeface="Arial" panose="020B0604020202020204" pitchFamily="34" charset="0"/>
              <a:buChar char="•"/>
            </a:pPr>
            <a:r>
              <a:rPr lang="en-US" dirty="0"/>
              <a:t>The majority of users (53%) fall under the Emerging category, representing the largest growth opportunity on the platform.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19% of users are High-Value Creators who consistently generate strong engagement and drive interaction.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26% of users are completely inactive, indicating a significant retention challenge.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Only 2% are active but low-performing, suggesting most active users maintain reasonable engagement levels.</a:t>
            </a:r>
            <a:endParaRPr lang="en-IN" dirty="0"/>
          </a:p>
        </p:txBody>
      </p:sp>
      <p:sp>
        <p:nvSpPr>
          <p:cNvPr id="11" name="TextBox 10">
            <a:extLst>
              <a:ext uri="{FF2B5EF4-FFF2-40B4-BE49-F238E27FC236}">
                <a16:creationId xmlns:a16="http://schemas.microsoft.com/office/drawing/2014/main" xmlns="" id="{15D27D36-8D64-EF02-10D6-B682A0E9DACB}"/>
              </a:ext>
            </a:extLst>
          </p:cNvPr>
          <p:cNvSpPr txBox="1"/>
          <p:nvPr/>
        </p:nvSpPr>
        <p:spPr>
          <a:xfrm>
            <a:off x="6146260" y="5255049"/>
            <a:ext cx="5798964" cy="415498"/>
          </a:xfrm>
          <a:prstGeom prst="rect">
            <a:avLst/>
          </a:prstGeom>
          <a:noFill/>
        </p:spPr>
        <p:txBody>
          <a:bodyPr wrap="square" rtlCol="0">
            <a:spAutoFit/>
          </a:bodyPr>
          <a:lstStyle/>
          <a:p>
            <a:pPr algn="ctr"/>
            <a:r>
              <a:rPr lang="en-US" sz="1050" dirty="0"/>
              <a:t>Emerging users represent the primary leverage point for scaling overall platform engagement.</a:t>
            </a:r>
          </a:p>
        </p:txBody>
      </p:sp>
    </p:spTree>
    <p:extLst>
      <p:ext uri="{BB962C8B-B14F-4D97-AF65-F5344CB8AC3E}">
        <p14:creationId xmlns:p14="http://schemas.microsoft.com/office/powerpoint/2010/main" val="7295500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659B0B-FB14-A7A8-092A-CD8C94B56A8F}"/>
              </a:ext>
            </a:extLst>
          </p:cNvPr>
          <p:cNvSpPr>
            <a:spLocks noGrp="1"/>
          </p:cNvSpPr>
          <p:nvPr>
            <p:ph type="title"/>
          </p:nvPr>
        </p:nvSpPr>
        <p:spPr>
          <a:xfrm>
            <a:off x="1528010" y="589547"/>
            <a:ext cx="7144935" cy="550606"/>
          </a:xfrm>
        </p:spPr>
        <p:txBody>
          <a:bodyPr>
            <a:normAutofit/>
          </a:bodyPr>
          <a:lstStyle/>
          <a:p>
            <a:r>
              <a:rPr lang="en-IN" sz="2900" b="1" dirty="0">
                <a:solidFill>
                  <a:schemeClr val="accent1">
                    <a:lumMod val="75000"/>
                  </a:schemeClr>
                </a:solidFill>
              </a:rPr>
              <a:t>Influencer &amp; High-Value Creator Identification</a:t>
            </a:r>
          </a:p>
        </p:txBody>
      </p:sp>
      <p:sp>
        <p:nvSpPr>
          <p:cNvPr id="7" name="Rectangle 6">
            <a:extLst>
              <a:ext uri="{FF2B5EF4-FFF2-40B4-BE49-F238E27FC236}">
                <a16:creationId xmlns:a16="http://schemas.microsoft.com/office/drawing/2014/main" xmlns="" id="{15C680F4-54F7-1A81-69E5-1D7C78EAC1BF}"/>
              </a:ext>
            </a:extLst>
          </p:cNvPr>
          <p:cNvSpPr/>
          <p:nvPr/>
        </p:nvSpPr>
        <p:spPr>
          <a:xfrm>
            <a:off x="6494585" y="1720361"/>
            <a:ext cx="5102315" cy="3417277"/>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Chart 7">
            <a:extLst>
              <a:ext uri="{FF2B5EF4-FFF2-40B4-BE49-F238E27FC236}">
                <a16:creationId xmlns:a16="http://schemas.microsoft.com/office/drawing/2014/main" xmlns="" id="{C0885709-C352-13D9-11BF-26A1A843A9D0}"/>
              </a:ext>
            </a:extLst>
          </p:cNvPr>
          <p:cNvGraphicFramePr>
            <a:graphicFrameLocks/>
          </p:cNvGraphicFramePr>
          <p:nvPr>
            <p:extLst>
              <p:ext uri="{D42A27DB-BD31-4B8C-83A1-F6EECF244321}">
                <p14:modId xmlns:p14="http://schemas.microsoft.com/office/powerpoint/2010/main" val="2199338384"/>
              </p:ext>
            </p:extLst>
          </p:nvPr>
        </p:nvGraphicFramePr>
        <p:xfrm>
          <a:off x="6494585" y="1822784"/>
          <a:ext cx="5102315" cy="321243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a:extLst>
              <a:ext uri="{FF2B5EF4-FFF2-40B4-BE49-F238E27FC236}">
                <a16:creationId xmlns:a16="http://schemas.microsoft.com/office/drawing/2014/main" xmlns="" id="{75BB4729-0E30-0E48-623C-2C650CFB92BC}"/>
              </a:ext>
            </a:extLst>
          </p:cNvPr>
          <p:cNvSpPr txBox="1"/>
          <p:nvPr/>
        </p:nvSpPr>
        <p:spPr>
          <a:xfrm>
            <a:off x="914400" y="1576137"/>
            <a:ext cx="4783016" cy="4247317"/>
          </a:xfrm>
          <a:prstGeom prst="rect">
            <a:avLst/>
          </a:prstGeom>
          <a:noFill/>
        </p:spPr>
        <p:txBody>
          <a:bodyPr wrap="square" rtlCol="0">
            <a:spAutoFit/>
          </a:bodyPr>
          <a:lstStyle/>
          <a:p>
            <a:pPr marL="285750" indent="-285750">
              <a:buFont typeface="Arial" panose="020B0604020202020204" pitchFamily="34" charset="0"/>
              <a:buChar char="•"/>
            </a:pPr>
            <a:r>
              <a:rPr lang="en-US" dirty="0"/>
              <a:t>These users demonstrate the highest engagement efficiency, averaging above 42 interactions per post.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per post is a stronger influencer metric than follower count or total posts.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Engagement per post is a stronger influencer metric than follower count or total posts.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High efficiency indicates strong audience responsiveness and content relevance.</a:t>
            </a:r>
            <a:endParaRPr lang="en-IN" dirty="0"/>
          </a:p>
        </p:txBody>
      </p:sp>
      <p:sp>
        <p:nvSpPr>
          <p:cNvPr id="10" name="TextBox 9">
            <a:extLst>
              <a:ext uri="{FF2B5EF4-FFF2-40B4-BE49-F238E27FC236}">
                <a16:creationId xmlns:a16="http://schemas.microsoft.com/office/drawing/2014/main" xmlns="" id="{CEE62BB3-0FB0-59D7-5BFF-87B49085BA72}"/>
              </a:ext>
            </a:extLst>
          </p:cNvPr>
          <p:cNvSpPr txBox="1"/>
          <p:nvPr/>
        </p:nvSpPr>
        <p:spPr>
          <a:xfrm>
            <a:off x="6146260" y="5255049"/>
            <a:ext cx="5798964" cy="415498"/>
          </a:xfrm>
          <a:prstGeom prst="rect">
            <a:avLst/>
          </a:prstGeom>
          <a:noFill/>
        </p:spPr>
        <p:txBody>
          <a:bodyPr wrap="square" rtlCol="0">
            <a:spAutoFit/>
          </a:bodyPr>
          <a:lstStyle/>
          <a:p>
            <a:pPr algn="ctr"/>
            <a:r>
              <a:rPr lang="en-US" sz="1050" dirty="0"/>
              <a:t>Engagement efficiency is a more reliable indicator of influence than raw follower volume.</a:t>
            </a:r>
          </a:p>
        </p:txBody>
      </p:sp>
    </p:spTree>
    <p:extLst>
      <p:ext uri="{BB962C8B-B14F-4D97-AF65-F5344CB8AC3E}">
        <p14:creationId xmlns:p14="http://schemas.microsoft.com/office/powerpoint/2010/main" val="2121279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639C75-7CBE-A5AC-CC49-481FBA6D44D3}"/>
              </a:ext>
            </a:extLst>
          </p:cNvPr>
          <p:cNvSpPr>
            <a:spLocks noGrp="1"/>
          </p:cNvSpPr>
          <p:nvPr>
            <p:ph type="title"/>
          </p:nvPr>
        </p:nvSpPr>
        <p:spPr>
          <a:xfrm>
            <a:off x="3280869" y="791300"/>
            <a:ext cx="5630261" cy="539443"/>
          </a:xfrm>
        </p:spPr>
        <p:txBody>
          <a:bodyPr>
            <a:normAutofit/>
          </a:bodyPr>
          <a:lstStyle/>
          <a:p>
            <a:r>
              <a:rPr lang="en-IN" sz="2900" b="1" dirty="0">
                <a:solidFill>
                  <a:schemeClr val="accent1">
                    <a:lumMod val="75000"/>
                  </a:schemeClr>
                </a:solidFill>
              </a:rPr>
              <a:t>Strategic Growth Framework</a:t>
            </a:r>
          </a:p>
        </p:txBody>
      </p:sp>
      <p:sp>
        <p:nvSpPr>
          <p:cNvPr id="6" name="TextBox 5">
            <a:extLst>
              <a:ext uri="{FF2B5EF4-FFF2-40B4-BE49-F238E27FC236}">
                <a16:creationId xmlns:a16="http://schemas.microsoft.com/office/drawing/2014/main" xmlns="" id="{145C8935-750A-369D-9D84-EEED5DCF1778}"/>
              </a:ext>
            </a:extLst>
          </p:cNvPr>
          <p:cNvSpPr txBox="1"/>
          <p:nvPr/>
        </p:nvSpPr>
        <p:spPr>
          <a:xfrm>
            <a:off x="525376" y="1876926"/>
            <a:ext cx="3645568" cy="3754874"/>
          </a:xfrm>
          <a:prstGeom prst="rect">
            <a:avLst/>
          </a:prstGeom>
          <a:noFill/>
        </p:spPr>
        <p:txBody>
          <a:bodyPr wrap="square" rtlCol="0">
            <a:spAutoFit/>
          </a:bodyPr>
          <a:lstStyle/>
          <a:p>
            <a:r>
              <a:rPr lang="en-US" sz="2200" b="1" dirty="0"/>
              <a:t>Retention Strategy</a:t>
            </a:r>
          </a:p>
          <a:p>
            <a:endParaRPr lang="en-US" b="1" dirty="0"/>
          </a:p>
          <a:p>
            <a:r>
              <a:rPr lang="en-US" dirty="0"/>
              <a:t>Launch targeted re-engagement campaigns for inactive users.</a:t>
            </a:r>
          </a:p>
          <a:p>
            <a:r>
              <a:rPr lang="en-US" dirty="0"/>
              <a:t/>
            </a:r>
            <a:br>
              <a:rPr lang="en-US" dirty="0"/>
            </a:br>
            <a:r>
              <a:rPr lang="en-US" dirty="0"/>
              <a:t>Offer incentives such as feature visibility or gamified rewards.</a:t>
            </a:r>
          </a:p>
          <a:p>
            <a:r>
              <a:rPr lang="en-US" dirty="0"/>
              <a:t/>
            </a:r>
            <a:br>
              <a:rPr lang="en-US" dirty="0"/>
            </a:br>
            <a:r>
              <a:rPr lang="en-US" dirty="0"/>
              <a:t>Use personalized notifications to bring dormant users back.</a:t>
            </a:r>
          </a:p>
          <a:p>
            <a:endParaRPr lang="en-IN" dirty="0"/>
          </a:p>
        </p:txBody>
      </p:sp>
      <p:sp>
        <p:nvSpPr>
          <p:cNvPr id="7" name="TextBox 6">
            <a:extLst>
              <a:ext uri="{FF2B5EF4-FFF2-40B4-BE49-F238E27FC236}">
                <a16:creationId xmlns:a16="http://schemas.microsoft.com/office/drawing/2014/main" xmlns="" id="{DDED7007-EA7F-0B76-63C7-3FAFDDC2902D}"/>
              </a:ext>
            </a:extLst>
          </p:cNvPr>
          <p:cNvSpPr txBox="1"/>
          <p:nvPr/>
        </p:nvSpPr>
        <p:spPr>
          <a:xfrm>
            <a:off x="4273215" y="1888957"/>
            <a:ext cx="3645568" cy="3200876"/>
          </a:xfrm>
          <a:prstGeom prst="rect">
            <a:avLst/>
          </a:prstGeom>
          <a:noFill/>
        </p:spPr>
        <p:txBody>
          <a:bodyPr wrap="square" rtlCol="0">
            <a:spAutoFit/>
          </a:bodyPr>
          <a:lstStyle/>
          <a:p>
            <a:r>
              <a:rPr lang="en-US" sz="2200" b="1" dirty="0"/>
              <a:t>Growth Strategy</a:t>
            </a:r>
          </a:p>
          <a:p>
            <a:endParaRPr lang="en-US" b="1" dirty="0"/>
          </a:p>
          <a:p>
            <a:r>
              <a:rPr lang="en-US" dirty="0"/>
              <a:t>Convert Emerging Users into High-Value Creators.</a:t>
            </a:r>
          </a:p>
          <a:p>
            <a:r>
              <a:rPr lang="en-US" dirty="0"/>
              <a:t/>
            </a:r>
            <a:br>
              <a:rPr lang="en-US" dirty="0"/>
            </a:br>
            <a:r>
              <a:rPr lang="en-US" dirty="0"/>
              <a:t>Encourage consistent posting through content prompts.</a:t>
            </a:r>
          </a:p>
          <a:p>
            <a:r>
              <a:rPr lang="en-US" dirty="0"/>
              <a:t/>
            </a:r>
            <a:br>
              <a:rPr lang="en-US" dirty="0"/>
            </a:br>
            <a:r>
              <a:rPr lang="en-US" dirty="0"/>
              <a:t>Promote high-performing hashtags to amplify reach.</a:t>
            </a:r>
          </a:p>
          <a:p>
            <a:endParaRPr lang="en-IN" dirty="0"/>
          </a:p>
        </p:txBody>
      </p:sp>
      <p:sp>
        <p:nvSpPr>
          <p:cNvPr id="8" name="TextBox 7">
            <a:extLst>
              <a:ext uri="{FF2B5EF4-FFF2-40B4-BE49-F238E27FC236}">
                <a16:creationId xmlns:a16="http://schemas.microsoft.com/office/drawing/2014/main" xmlns="" id="{8F88D4C8-6F70-EDFC-B4CF-6F4D697B5152}"/>
              </a:ext>
            </a:extLst>
          </p:cNvPr>
          <p:cNvSpPr txBox="1"/>
          <p:nvPr/>
        </p:nvSpPr>
        <p:spPr>
          <a:xfrm>
            <a:off x="8021054" y="1876926"/>
            <a:ext cx="4002505" cy="2985433"/>
          </a:xfrm>
          <a:prstGeom prst="rect">
            <a:avLst/>
          </a:prstGeom>
          <a:noFill/>
        </p:spPr>
        <p:txBody>
          <a:bodyPr wrap="square" rtlCol="0">
            <a:spAutoFit/>
          </a:bodyPr>
          <a:lstStyle/>
          <a:p>
            <a:r>
              <a:rPr lang="en-US" sz="2200" b="1" dirty="0"/>
              <a:t>Engagement Optimization</a:t>
            </a:r>
          </a:p>
          <a:p>
            <a:endParaRPr lang="en-US" sz="2200" b="1" dirty="0"/>
          </a:p>
          <a:p>
            <a:r>
              <a:rPr lang="en-US" dirty="0"/>
              <a:t>Identify and reward high-efficiency creators.</a:t>
            </a:r>
          </a:p>
          <a:p>
            <a:r>
              <a:rPr lang="en-US" dirty="0"/>
              <a:t/>
            </a:r>
            <a:br>
              <a:rPr lang="en-US" dirty="0"/>
            </a:br>
            <a:r>
              <a:rPr lang="en-US" dirty="0"/>
              <a:t>Prioritize emotion-driven and lifestyle content themes.</a:t>
            </a:r>
          </a:p>
          <a:p>
            <a:endParaRPr lang="en-US" dirty="0"/>
          </a:p>
          <a:p>
            <a:r>
              <a:rPr lang="en-US" dirty="0"/>
              <a:t>Optimize posting consistency to sustain interaction growth.</a:t>
            </a:r>
          </a:p>
        </p:txBody>
      </p:sp>
    </p:spTree>
    <p:extLst>
      <p:ext uri="{BB962C8B-B14F-4D97-AF65-F5344CB8AC3E}">
        <p14:creationId xmlns:p14="http://schemas.microsoft.com/office/powerpoint/2010/main" val="211944596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665504E-334D-110A-215A-7EA1E2D6DF70}"/>
              </a:ext>
            </a:extLst>
          </p:cNvPr>
          <p:cNvSpPr>
            <a:spLocks noGrp="1"/>
          </p:cNvSpPr>
          <p:nvPr>
            <p:ph type="title"/>
          </p:nvPr>
        </p:nvSpPr>
        <p:spPr>
          <a:xfrm>
            <a:off x="585859" y="220997"/>
            <a:ext cx="4415632" cy="568940"/>
          </a:xfrm>
        </p:spPr>
        <p:txBody>
          <a:bodyPr>
            <a:normAutofit/>
          </a:bodyPr>
          <a:lstStyle/>
          <a:p>
            <a:r>
              <a:rPr lang="en-IN" sz="2900" b="1" dirty="0">
                <a:solidFill>
                  <a:schemeClr val="accent1">
                    <a:lumMod val="75000"/>
                  </a:schemeClr>
                </a:solidFill>
              </a:rPr>
              <a:t>Business Recommendations</a:t>
            </a:r>
          </a:p>
        </p:txBody>
      </p:sp>
      <p:sp>
        <p:nvSpPr>
          <p:cNvPr id="9" name="TextBox 8">
            <a:extLst>
              <a:ext uri="{FF2B5EF4-FFF2-40B4-BE49-F238E27FC236}">
                <a16:creationId xmlns:a16="http://schemas.microsoft.com/office/drawing/2014/main" xmlns="" id="{F29A60F7-A21C-643E-FB55-C286D0463FFF}"/>
              </a:ext>
            </a:extLst>
          </p:cNvPr>
          <p:cNvSpPr txBox="1"/>
          <p:nvPr/>
        </p:nvSpPr>
        <p:spPr>
          <a:xfrm>
            <a:off x="585859" y="850095"/>
            <a:ext cx="6236045" cy="5909310"/>
          </a:xfrm>
          <a:prstGeom prst="rect">
            <a:avLst/>
          </a:prstGeom>
          <a:noFill/>
        </p:spPr>
        <p:txBody>
          <a:bodyPr wrap="square" rtlCol="0">
            <a:spAutoFit/>
          </a:bodyPr>
          <a:lstStyle/>
          <a:p>
            <a:pPr marL="285750" indent="-285750">
              <a:buFont typeface="Arial" panose="020B0604020202020204" pitchFamily="34" charset="0"/>
              <a:buChar char="•"/>
            </a:pPr>
            <a:r>
              <a:rPr lang="en-US" dirty="0"/>
              <a:t>Prioritize reactivation of the 26% inactive user segment through targeted engagement campaigns.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Develop structured influencer programs using engagement efficiency as the primary selection metric.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Encourage consistent content creation by promoting high-performing hashtags and content themes.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Invest in Emerging Users, as they represent the largest scalable growth segment (53%).</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Implement data-driven performance tracking using engagement per post as a core KPI.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Leverage cohort-based insights to maintain consistent onboarding experience and sustain engagement across new user segments.</a:t>
            </a:r>
            <a:endParaRPr lang="en-IN" dirty="0"/>
          </a:p>
        </p:txBody>
      </p:sp>
      <p:pic>
        <p:nvPicPr>
          <p:cNvPr id="3" name="Picture 2"/>
          <p:cNvPicPr>
            <a:picLocks noChangeAspect="1"/>
          </p:cNvPicPr>
          <p:nvPr/>
        </p:nvPicPr>
        <p:blipFill>
          <a:blip r:embed="rId2"/>
          <a:stretch>
            <a:fillRect/>
          </a:stretch>
        </p:blipFill>
        <p:spPr>
          <a:xfrm>
            <a:off x="7578437" y="0"/>
            <a:ext cx="4613564" cy="6858000"/>
          </a:xfrm>
          <a:prstGeom prst="rect">
            <a:avLst/>
          </a:prstGeom>
        </p:spPr>
      </p:pic>
    </p:spTree>
    <p:extLst>
      <p:ext uri="{BB962C8B-B14F-4D97-AF65-F5344CB8AC3E}">
        <p14:creationId xmlns:p14="http://schemas.microsoft.com/office/powerpoint/2010/main" val="12134376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985044-95A6-7251-0531-620E61AA270D}"/>
              </a:ext>
            </a:extLst>
          </p:cNvPr>
          <p:cNvSpPr>
            <a:spLocks noGrp="1"/>
          </p:cNvSpPr>
          <p:nvPr>
            <p:ph type="title"/>
          </p:nvPr>
        </p:nvSpPr>
        <p:spPr>
          <a:xfrm>
            <a:off x="745958" y="323949"/>
            <a:ext cx="6601067" cy="598436"/>
          </a:xfrm>
        </p:spPr>
        <p:txBody>
          <a:bodyPr>
            <a:normAutofit/>
          </a:bodyPr>
          <a:lstStyle/>
          <a:p>
            <a:r>
              <a:rPr lang="en-IN" sz="2900" b="1" dirty="0">
                <a:solidFill>
                  <a:schemeClr val="accent1">
                    <a:lumMod val="75000"/>
                  </a:schemeClr>
                </a:solidFill>
              </a:rPr>
              <a:t>Conclusion &amp; Key Takeaways</a:t>
            </a:r>
          </a:p>
        </p:txBody>
      </p:sp>
      <p:sp>
        <p:nvSpPr>
          <p:cNvPr id="9" name="TextBox 8">
            <a:extLst>
              <a:ext uri="{FF2B5EF4-FFF2-40B4-BE49-F238E27FC236}">
                <a16:creationId xmlns:a16="http://schemas.microsoft.com/office/drawing/2014/main" xmlns="" id="{C118EE22-AFB6-03C8-1B24-8C1CB09EEED7}"/>
              </a:ext>
            </a:extLst>
          </p:cNvPr>
          <p:cNvSpPr txBox="1"/>
          <p:nvPr/>
        </p:nvSpPr>
        <p:spPr>
          <a:xfrm>
            <a:off x="745958" y="1215189"/>
            <a:ext cx="5955631" cy="5632311"/>
          </a:xfrm>
          <a:prstGeom prst="rect">
            <a:avLst/>
          </a:prstGeom>
          <a:noFill/>
        </p:spPr>
        <p:txBody>
          <a:bodyPr wrap="square" rtlCol="0">
            <a:spAutoFit/>
          </a:bodyPr>
          <a:lstStyle/>
          <a:p>
            <a:pPr marL="285750" indent="-285750">
              <a:buFont typeface="Arial" panose="020B0604020202020204" pitchFamily="34" charset="0"/>
              <a:buChar char="•"/>
            </a:pPr>
            <a:r>
              <a:rPr lang="en-US" dirty="0"/>
              <a:t>Engagement on the platform is highly concentrated among a small group of high-value creators.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Posting consistency strongly correlates with higher engagement levels.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Emotion-driven and lifestyle-based content themes generate the highest interaction.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Emerging User segment represents the largest growth opportunity.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Targeted segmentation enables scalable, data-driven growth strategies.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Data-driven segmentation and creator-focused optimization are key to sustained platform growth.</a:t>
            </a:r>
          </a:p>
          <a:p>
            <a:pPr marL="285750" indent="-285750">
              <a:buFont typeface="Arial" panose="020B0604020202020204" pitchFamily="34" charset="0"/>
              <a:buChar char="•"/>
            </a:pPr>
            <a:endParaRPr lang="en-IN" dirty="0"/>
          </a:p>
        </p:txBody>
      </p:sp>
      <p:pic>
        <p:nvPicPr>
          <p:cNvPr id="4" name="Picture 3"/>
          <p:cNvPicPr>
            <a:picLocks noChangeAspect="1"/>
          </p:cNvPicPr>
          <p:nvPr/>
        </p:nvPicPr>
        <p:blipFill>
          <a:blip r:embed="rId2"/>
          <a:stretch>
            <a:fillRect/>
          </a:stretch>
        </p:blipFill>
        <p:spPr>
          <a:xfrm>
            <a:off x="7467600" y="0"/>
            <a:ext cx="4724400" cy="6847499"/>
          </a:xfrm>
          <a:prstGeom prst="rect">
            <a:avLst/>
          </a:prstGeom>
        </p:spPr>
      </p:pic>
    </p:spTree>
    <p:extLst>
      <p:ext uri="{BB962C8B-B14F-4D97-AF65-F5344CB8AC3E}">
        <p14:creationId xmlns:p14="http://schemas.microsoft.com/office/powerpoint/2010/main" val="5672498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BBEF541-63A7-3C50-81C4-D873454B7CEE}"/>
              </a:ext>
            </a:extLst>
          </p:cNvPr>
          <p:cNvSpPr>
            <a:spLocks noGrp="1"/>
          </p:cNvSpPr>
          <p:nvPr>
            <p:ph type="title"/>
          </p:nvPr>
        </p:nvSpPr>
        <p:spPr>
          <a:xfrm>
            <a:off x="1139767" y="2953760"/>
            <a:ext cx="10515600" cy="1122901"/>
          </a:xfrm>
        </p:spPr>
        <p:txBody>
          <a:bodyPr>
            <a:noAutofit/>
          </a:bodyPr>
          <a:lstStyle/>
          <a:p>
            <a:r>
              <a:rPr lang="en-IN" sz="4800" b="1" dirty="0">
                <a:solidFill>
                  <a:schemeClr val="tx2">
                    <a:lumMod val="90000"/>
                    <a:lumOff val="10000"/>
                  </a:schemeClr>
                </a:solidFill>
              </a:rPr>
              <a:t>THANKYOU</a:t>
            </a:r>
          </a:p>
        </p:txBody>
      </p:sp>
      <p:sp>
        <p:nvSpPr>
          <p:cNvPr id="7" name="Rectangle 6">
            <a:extLst>
              <a:ext uri="{FF2B5EF4-FFF2-40B4-BE49-F238E27FC236}">
                <a16:creationId xmlns:a16="http://schemas.microsoft.com/office/drawing/2014/main" xmlns="" id="{2150C717-A77E-2B3E-B630-368C78B3206B}"/>
              </a:ext>
            </a:extLst>
          </p:cNvPr>
          <p:cNvSpPr/>
          <p:nvPr/>
        </p:nvSpPr>
        <p:spPr>
          <a:xfrm>
            <a:off x="7772400" y="0"/>
            <a:ext cx="44196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xmlns="" id="{F24061E1-23A3-8CB7-29E8-0B633FE5EA39}"/>
              </a:ext>
            </a:extLst>
          </p:cNvPr>
          <p:cNvSpPr/>
          <p:nvPr/>
        </p:nvSpPr>
        <p:spPr>
          <a:xfrm>
            <a:off x="6112073" y="1985211"/>
            <a:ext cx="3060000" cy="3060000"/>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xmlns="" id="{193B8265-961D-9FF0-39AF-AA2F3748A35F}"/>
              </a:ext>
            </a:extLst>
          </p:cNvPr>
          <p:cNvSpPr/>
          <p:nvPr/>
        </p:nvSpPr>
        <p:spPr>
          <a:xfrm>
            <a:off x="6292073" y="2165211"/>
            <a:ext cx="2700000" cy="2700000"/>
          </a:xfrm>
          <a:prstGeom prst="ellips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9593" y="2675475"/>
            <a:ext cx="1916369" cy="1645577"/>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9621472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3792</TotalTime>
  <Words>889</Words>
  <Application>Microsoft Office PowerPoint</Application>
  <PresentationFormat>Widescreen</PresentationFormat>
  <Paragraphs>153</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Segoe UI</vt:lpstr>
      <vt:lpstr>Wingdings</vt:lpstr>
      <vt:lpstr>Office Theme</vt:lpstr>
      <vt:lpstr>Social Media Engagement &amp; User Behavior Analytics</vt:lpstr>
      <vt:lpstr>AGENDA</vt:lpstr>
      <vt:lpstr>PROBLEM STATEMENT</vt:lpstr>
      <vt:lpstr>DATA DESCRIPTION  The dataset contains information about 7 tables.</vt:lpstr>
      <vt:lpstr>KEY FIELDS</vt:lpstr>
      <vt:lpstr>   DATABASE SCHEMA</vt:lpstr>
      <vt:lpstr>User Activity Distribution</vt:lpstr>
      <vt:lpstr>Engagement Concentration</vt:lpstr>
      <vt:lpstr>Hashtag &amp; Content Insight  </vt:lpstr>
      <vt:lpstr>Upload vs Engagement Correlation</vt:lpstr>
      <vt:lpstr>Cohort Analysis (Joining Year Insight)</vt:lpstr>
      <vt:lpstr>User Segmentation Model</vt:lpstr>
      <vt:lpstr>Influencer &amp; High-Value Creator Identification</vt:lpstr>
      <vt:lpstr>Strategic Growth Framework</vt:lpstr>
      <vt:lpstr>Business Recommendations</vt:lpstr>
      <vt:lpstr>Conclusion &amp; Key Takeaways</vt:lpstr>
      <vt:lpstr>THANKYOU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ANALYSIS</dc:title>
  <dc:creator>shivani tiwari</dc:creator>
  <cp:lastModifiedBy>Microsoft account</cp:lastModifiedBy>
  <cp:revision>53</cp:revision>
  <dcterms:created xsi:type="dcterms:W3CDTF">2024-12-21T04:02:27Z</dcterms:created>
  <dcterms:modified xsi:type="dcterms:W3CDTF">2026-03-03T07:28:34Z</dcterms:modified>
</cp:coreProperties>
</file>